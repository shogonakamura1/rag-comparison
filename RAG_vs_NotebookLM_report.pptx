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37160" cy="2743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D2D8A"/>
                </a:solidFill>
                <a:latin typeface="Meiryo UI"/>
              </a:rPr>
              <a:t>RAGシステムとGoogle NotebookLM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2D2D8A"/>
                </a:solidFill>
                <a:latin typeface="Meiryo UI"/>
              </a:rPr>
              <a:t>の比較実験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04040"/>
                </a:solidFill>
                <a:latin typeface="Meiryo UI"/>
              </a:rPr>
              <a:t>Claude 公式ドキュメントを対象とした事実抽出評価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04040"/>
                </a:solidFill>
                <a:latin typeface="Meiryo UI"/>
              </a:rPr>
              <a:t>電子情報工学科　中村　翔吾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808080"/>
                </a:solidFill>
                <a:latin typeface="Meiryo UI"/>
              </a:rPr>
              <a:t>2026年4月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1. 研究の目的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課題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8229600" cy="59436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D2D8A"/>
                </a:solidFill>
                <a:latin typeface="Meiryo UI"/>
              </a:rPr>
              <a:t>「自分が作ったRAGシステムとGoogle NotebookLMの違いを観察する」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実施項目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</a:rPr>
              <a:t>自作RAGシステムの構築（Python・ChromaDB・Gemini API）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346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</a:rPr>
              <a:t>ソース文書（10ファイル）と質問セットの作成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461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</a:rPr>
              <a:t>RAGとNotebookLMの両方で同じ質問を実行・回答を比較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5760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</a:rPr>
              <a:t>RAGの弱点を分析し、改善実装で性能向上を試行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ゴール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  <a:latin typeface="Meiryo UI"/>
              </a:rPr>
              <a:t>両システムの構造的な違いを実験により定量的に明らかにする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2. 自作RAGシステムのアーキテクチャ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Meiryo UI"/>
              </a:rPr>
              <a:t>フェーズ1: ドキュメント取り込み（インジェスト）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9525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URL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Claude公式
ドキュメント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938528" y="1618488"/>
            <a:ext cx="192024" cy="18288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148840" y="13258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9525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WebFetch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6184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本文抽出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30168" y="1618488"/>
            <a:ext cx="192024" cy="18288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840480" y="13258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9525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チャンク分割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184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500文字
+ オーバーラップ100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321808" y="1618488"/>
            <a:ext cx="192024" cy="18288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32120" y="13258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9525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Embedding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6184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multilingual-
e5-large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13448" y="1618488"/>
            <a:ext cx="192024" cy="18288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13258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9525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13716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ChromaDB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16184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ローカル
保存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Meiryo UI"/>
              </a:rPr>
              <a:t>フェーズ2: 質問応答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260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9525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33399"/>
                </a:solidFill>
                <a:latin typeface="Meiryo UI"/>
              </a:rPr>
              <a:t>質問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18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ユーザーの
質問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1938528" y="3218688"/>
            <a:ext cx="192024" cy="182880"/>
          </a:xfrm>
          <a:prstGeom prst="rightArrow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48840" y="29260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9525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4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33399"/>
                </a:solidFill>
                <a:latin typeface="Meiryo UI"/>
              </a:rPr>
              <a:t>Embedding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3218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クエリの
ベクトル化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630168" y="3218688"/>
            <a:ext cx="192024" cy="182880"/>
          </a:xfrm>
          <a:prstGeom prst="rightArrow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840480" y="29260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9525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33399"/>
                </a:solidFill>
                <a:latin typeface="Meiryo UI"/>
              </a:rPr>
              <a:t>検索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3218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ChromaDBから
Top-8チャンク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321808" y="3218688"/>
            <a:ext cx="192024" cy="182880"/>
          </a:xfrm>
          <a:prstGeom prst="rightArrow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532120" y="29260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9525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3212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33399"/>
                </a:solidFill>
                <a:latin typeface="Meiryo UI"/>
              </a:rPr>
              <a:t>フィルタ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3218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距離0.45以下
のみ採用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013448" y="3218688"/>
            <a:ext cx="192024" cy="182880"/>
          </a:xfrm>
          <a:prstGeom prst="rightArrow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223760" y="2926080"/>
            <a:ext cx="1463040" cy="77724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9525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60" y="2971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333399"/>
                </a:solidFill>
                <a:latin typeface="Meiryo UI"/>
              </a:rPr>
              <a:t>LLM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32186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404040"/>
                </a:solidFill>
                <a:latin typeface="Meiryo UI"/>
              </a:rPr>
              <a:t>Gemini 2.5 Flash
で回答生成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02336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41148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2D8A"/>
                </a:solidFill>
                <a:latin typeface="Meiryo UI"/>
              </a:rPr>
              <a:t>技術スタック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34340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Python 3.11+ / ChromaDB / sentence-transformers (multilingual-e5-large) / Gemini 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3. ソース文書（10ファイル）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</a:rPr>
              <a:t>Anthropic 公式ドキュメント（platform.claude.com/docs/ja）から10ページを選定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4630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models_overview.md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46304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Claudeモデル一覧・料金・スペック比較表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pricing.md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0136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詳細料金表（11モデル × 5列）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39696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3969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tool_use.md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13969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Tool Use機能・関数呼び出し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78024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47802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vision.md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47802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画像認識・対応フォーマット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816352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streaming.md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1635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ストリーミング・SSEイベント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1463040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146304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structured_outputs.md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63040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JSON出力・厳格なツール使用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1801368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1801368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extended_thinking.md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801368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拡張思考・適応思考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2139696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2139696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prompt_engineering.md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139696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プロンプトのベストプラクティス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478024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2478024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batch_processing.md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2478024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バッチAPIの仕様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816352"/>
            <a:ext cx="45720" cy="292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2816352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pdf_support.md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2816352"/>
            <a:ext cx="2331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PDF処理機能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291840"/>
            <a:ext cx="8046720" cy="128016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3832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選定のポイント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36576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・ 全て日本語の公式ドキュメント（クロスリンガル問題を回避）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3867912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・ 数値・表・固有名詞が豊富で「正解が一意に決まる」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078224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・ AIが学習データから推測しないよう、最新モデル（Opus 4.6 等）の情報を含む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288536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・ NotebookLMにも同じファイルをアップロードして公平に比較できる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4. 評価ルーブリックの設計と改善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</a:rPr>
              <a:t>教授に詰められないよう、採点基準を明確化（途中で気づいた問題点を反映）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v1: 主観評価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AI生成の期待回答との一致度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3333"/>
                </a:solidFill>
                <a:latin typeface="Meiryo UI"/>
              </a:rPr>
              <a:t>問題点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468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・ 再現性なし
・ 採点者バイアス
・ 正解の妥当性が曖昧
・ 「軽微な誤り」と「重大な誤り」の境界不明
・ ポイントの粒度不明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46120" y="2743200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80" y="1417320"/>
            <a:ext cx="2606040" cy="310896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50876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v2: ルール詳細化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7830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三段論法テスト・カバー率計算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03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39933"/>
                </a:solidFill>
                <a:latin typeface="Meiryo UI"/>
              </a:rPr>
              <a:t>改善点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331720"/>
            <a:ext cx="24688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・ 平均スコア採用
・ 推論明示=5/暗黙=3
・ 古い情報=2
・ 単語レベルでポイント抽出
・ 迷ったら厳しい方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09360" y="2743200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75120" y="1417320"/>
            <a:ext cx="1920240" cy="310896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15240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508760"/>
            <a:ext cx="1783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v3: 客観評価へ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178308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正解一致型に転換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1031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Meiryo UI"/>
              </a:rPr>
              <a:t>決定版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331720"/>
            <a:ext cx="1783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・ 1問1答
・ 単語/数値で
　明確に正誤
・ 模範回答と
　ソース位置
　を明示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09999"/>
                </a:solidFill>
                <a:latin typeface="Meiryo UI"/>
              </a:rPr>
              <a:t>学んだこと: 「正解が一意に決まる質問」を作ることが、再現性のある評価の前提条件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5. 質問セットの進化（v1〜v6）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051560"/>
            <a:ext cx="64008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051560"/>
            <a:ext cx="137160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1051560"/>
            <a:ext cx="91440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051560"/>
            <a:ext cx="411480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1051560"/>
            <a:ext cx="100584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78992"/>
            <a:ext cx="640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バージョン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0789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テーマ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078992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評価方式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07899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質問例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7899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eiryo UI"/>
              </a:rPr>
              <a:t>結果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417320"/>
            <a:ext cx="64008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1417320"/>
            <a:ext cx="13716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0" y="1417320"/>
            <a:ext cx="9144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1417320"/>
            <a:ext cx="41148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89520" y="1417320"/>
            <a:ext cx="100584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53619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1536192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汎用質問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153619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主観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153619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「Constitutional AIとは何ですか？」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153619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曖昧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1874519"/>
            <a:ext cx="64008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88720" y="1874519"/>
            <a:ext cx="13716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0" y="1874519"/>
            <a:ext cx="9144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74720" y="1874519"/>
            <a:ext cx="41148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1874519"/>
            <a:ext cx="100584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19933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19933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翻訳実験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19933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主観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9933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（v1と同じ質問・クエリ翻訳実験）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19933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悪化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331720"/>
            <a:ext cx="64008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88720" y="2331720"/>
            <a:ext cx="13716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0" y="2331720"/>
            <a:ext cx="9144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74720" y="2331720"/>
            <a:ext cx="411480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2331720"/>
            <a:ext cx="1005840" cy="45720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24505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24505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フィルタ実験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60320" y="24505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主観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24505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（v1と同じ質問・距離フィルタ追加）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24505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改善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2788920"/>
            <a:ext cx="64008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88720" y="2788920"/>
            <a:ext cx="13716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560320" y="2788920"/>
            <a:ext cx="9144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74720" y="2788920"/>
            <a:ext cx="41148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20" y="2788920"/>
            <a:ext cx="100584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29077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29077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事実抽出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29077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客観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29077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「Haiku 4.5の入力料金は？」 → $1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89520" y="29077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高得点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3246120"/>
            <a:ext cx="64008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88720" y="3246120"/>
            <a:ext cx="13716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0" y="3246120"/>
            <a:ext cx="9144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74720" y="3246120"/>
            <a:ext cx="411480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589520" y="3246120"/>
            <a:ext cx="1005840" cy="457200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33649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80160" y="33649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マルチソース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60320" y="33649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客観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33649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「100ページPDFをBatchで処理した料金は？」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3649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天井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3703320"/>
            <a:ext cx="64008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8720" y="3703320"/>
            <a:ext cx="137160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560320" y="3703320"/>
            <a:ext cx="91440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74720" y="3703320"/>
            <a:ext cx="411480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589520" y="3703320"/>
            <a:ext cx="1005840" cy="45720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82219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D2D8A"/>
                </a:solidFill>
                <a:latin typeface="Meiryo UI"/>
              </a:rPr>
              <a:t>v6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80160" y="3822191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RAG弱点特化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60320" y="3822191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000000"/>
                </a:solidFill>
                <a:latin typeface="Meiryo UI"/>
              </a:rPr>
              <a:t>客観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566160" y="3822191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「適応思考: いいえのモデルは何個？」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382219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失敗発生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4343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Meiryo UI"/>
              </a:rPr>
              <a:t>気づき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45720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v5で天井（100%）に達した後、RAGの弱点を意図的に突くv6を作成。これが転機となった。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6. スコア推移（v1 → v7）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1280160"/>
            <a:ext cx="73152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39319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08080"/>
                </a:solidFill>
                <a:latin typeface="Meiryo UI"/>
              </a:rPr>
              <a:t>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023360"/>
            <a:ext cx="731520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1479" y="3246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08080"/>
                </a:solidFill>
                <a:latin typeface="Meiryo UI"/>
              </a:rPr>
              <a:t>25%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3337560"/>
            <a:ext cx="731520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1479" y="25603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08080"/>
                </a:solidFill>
                <a:latin typeface="Meiryo UI"/>
              </a:rPr>
              <a:t>50%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651760"/>
            <a:ext cx="731520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79" y="187451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08080"/>
                </a:solidFill>
                <a:latin typeface="Meiryo UI"/>
              </a:rPr>
              <a:t>75%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1965960"/>
            <a:ext cx="731520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79" y="118871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808080"/>
                </a:solidFill>
                <a:latin typeface="Meiryo UI"/>
              </a:rPr>
              <a:t>100%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1280160"/>
            <a:ext cx="7315200" cy="0"/>
          </a:xfrm>
          <a:prstGeom prst="line">
            <a:avLst/>
          </a:prstGeom>
          <a:ln w="635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371600" y="1719072"/>
            <a:ext cx="502920" cy="230428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14904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84%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1883664"/>
            <a:ext cx="502920" cy="213969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165506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78%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翻訳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609344"/>
            <a:ext cx="502920" cy="2414016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1380744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v3a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フィルタ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1444752"/>
            <a:ext cx="502920" cy="2578608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121615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94%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事実抽出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1280160"/>
            <a:ext cx="502920" cy="2743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10515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マルチ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1828800"/>
            <a:ext cx="502920" cy="2194560"/>
          </a:xfrm>
          <a:prstGeom prst="rect">
            <a:avLst/>
          </a:prstGeom>
          <a:solidFill>
            <a:srgbClr val="E6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16002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弱点特化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0" y="1554480"/>
            <a:ext cx="502920" cy="2468880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132588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90%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069080"/>
            <a:ext cx="868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2D2D8A"/>
                </a:solidFill>
                <a:latin typeface="Meiryo UI"/>
              </a:rPr>
              <a:t>v7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425196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404040"/>
                </a:solidFill>
                <a:latin typeface="Meiryo UI"/>
              </a:rPr>
              <a:t>表認識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1280160"/>
            <a:ext cx="7315200" cy="0"/>
          </a:xfrm>
          <a:prstGeom prst="line">
            <a:avLst/>
          </a:prstGeom>
          <a:ln w="25400">
            <a:solidFill>
              <a:srgbClr val="333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83680" y="111556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333399"/>
                </a:solidFill>
                <a:latin typeface="Meiryo UI"/>
              </a:rPr>
              <a:t>NotebookLM (100%)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Meiryo UI"/>
              </a:rPr>
              <a:t>観察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262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v6でRAGの弱点が露呈（80%）→ v7で表認識チャンキングを実装し90%まで改善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7. v6: RAGの弱点を突いた10問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04040"/>
                </a:solidFill>
                <a:latin typeface="Meiryo UI"/>
              </a:rPr>
              <a:t>RAGの構造的弱点（チャンク分割によって失われる情報）を意図的にテスト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45720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417320"/>
            <a:ext cx="182880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417320"/>
            <a:ext cx="411480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1645920" cy="292608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#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RAG弱点カテゴリ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4630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質問内容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46304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正解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09928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1709928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1709928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0" y="1709928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6479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1764792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否定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1764792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Haikuだけ1Mトークン非対応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7647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Claude Haiku 4.5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002536"/>
            <a:ext cx="4572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2002536"/>
            <a:ext cx="18288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34640" y="2002536"/>
            <a:ext cx="41148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002536"/>
            <a:ext cx="164592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0574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05740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カウント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05740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「適応思考: いいえ」のモデル数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05740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2個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2295144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2295144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34640" y="2295144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9440" y="2295144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35000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235000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紛らわしい命名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2350008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Claude 3 Haikuの入力料金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235000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$0.25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2587751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05840" y="2587751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834640" y="2587751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9440" y="2587751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2642615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2642615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順位付け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2642615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最安の出力料金モデル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64261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Claude Haiku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880359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05840" y="2880359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34640" y="2880359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49440" y="2880359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2935223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" y="2935223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記載なし推論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2935223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リストにOpus 3はあるか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2935223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いいえ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3172967"/>
            <a:ext cx="4572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05840" y="3172967"/>
            <a:ext cx="18288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834640" y="3172967"/>
            <a:ext cx="411480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0" y="3172967"/>
            <a:ext cx="1645920" cy="29260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8640" y="3227831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" y="3227831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複数セル算術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26080" y="3227831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1hキャッシュ料金の差額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0" y="3227831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$4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3465575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5840" y="3465575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834640" y="3465575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949440" y="3465575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3520439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" y="3520439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バージョン混同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26080" y="3520439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JSON出力の最新パラメータ名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9440" y="3520439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output_config.format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8640" y="3758183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05840" y="3758183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34640" y="3758183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49440" y="3758183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48640" y="3813047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7280" y="3813047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比率・乗数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26080" y="3813047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5分キャッシュは標準の何倍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49440" y="381304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1.25倍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050791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05840" y="4050791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834640" y="4050791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4050791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4105655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" y="4105655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暗黙の制約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926080" y="4105655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200ページPDFは処理可能？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49440" y="4105655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いいえ（100上限）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4343400"/>
            <a:ext cx="4572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05840" y="4343400"/>
            <a:ext cx="1828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834640" y="4343400"/>
            <a:ext cx="411480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49440" y="4343400"/>
            <a:ext cx="1645920" cy="29260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48640" y="439826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Q10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" y="4398264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非推奨判定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26080" y="4398264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Meiryo UI"/>
              </a:rPr>
              <a:t>Opus 4.6で非推奨のtype値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49440" y="439826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"enabled"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45720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68000"/>
                </a:solidFill>
                <a:latin typeface="Meiryo UI"/>
              </a:rPr>
              <a:t>黄緑のQ2・Q6でRAGが失敗（NotebookLMは正解）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8. v6 結果: RAG vs NotebookLM 直接比較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0972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15240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D2D8A"/>
                </a:solidFill>
                <a:latin typeface="Meiryo UI"/>
              </a:rPr>
              <a:t>自作 RAG (v6)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E68000"/>
                </a:solidFill>
                <a:latin typeface="Meiryo UI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</a:rPr>
              <a:t>正答率 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E68000"/>
                </a:solidFill>
                <a:latin typeface="Meiryo UI"/>
              </a:rPr>
              <a:t>失敗: Q2（カウント）, Q6（複数セル算術）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09728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15240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1887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33399"/>
                </a:solidFill>
                <a:latin typeface="Meiryo UI"/>
              </a:rPr>
              <a:t>Google 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5544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339933"/>
                </a:solidFill>
                <a:latin typeface="Meiryo UI"/>
              </a:rPr>
              <a:t>10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</a:rPr>
              <a:t>正答率 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889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339933"/>
                </a:solidFill>
                <a:latin typeface="Meiryo UI"/>
              </a:rPr>
              <a:t>全問正解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383280"/>
            <a:ext cx="8046720" cy="137160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決定的な差: 表データに対する処理能力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49039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Q2 (カウント): RAG「情報がない」 ↔ NLM「2つ（Sonnet 4.5とHaiku 4.5）」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77639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Q6 (算術): RAG「期間の区別なし」（誤答） ↔ NLM「$4 = $6 - $2」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Meiryo UI"/>
              </a:rPr>
              <a:t>→ NotebookLMは表全体を保持しているため、行・列をまたぐ操作ができる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9. なぜNotebookLMは正解できるのか？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</a:rPr>
              <a:t>RAG と NotebookLM はアーキテクチャが構造的に異なる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68000"/>
                </a:solidFill>
                <a:latin typeface="Meiryo UI"/>
              </a:rPr>
              <a:t>自作RAGの場合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402336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eiryo UI"/>
              </a:rPr>
              <a:t>| 機能 | Opus 4.6 | Sonnet 4.5 | Haiku 4.5 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CC3333"/>
                </a:solidFill>
                <a:latin typeface="Meiryo UI"/>
              </a:rPr>
              <a:t>─ ─ ─ ─ ─ チャンク境界 ─ ─ ─ ─ 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4023360" cy="365760"/>
          </a:xfrm>
          <a:prstGeom prst="rect">
            <a:avLst/>
          </a:prstGeom>
          <a:solidFill>
            <a:srgbClr val="DAED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eiryo UI"/>
              </a:rPr>
              <a:t>| 適応思考 | はい | いいえ | いいえ 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8000"/>
                </a:solidFill>
                <a:latin typeface="Meiryo UI"/>
              </a:rPr>
              <a:t>→ ヘッダーと切り離されると
　 「いいえ」がどのモデルか不明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258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339933"/>
                </a:solidFill>
                <a:latin typeface="Meiryo UI"/>
              </a:rPr>
              <a:t>NotebookLM の場合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64592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12700">
            <a:solidFill>
              <a:srgbClr val="33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6916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eiryo UI"/>
              </a:rPr>
              <a:t>| 機能 | Opus 4.6 | Sonnet 4.5 | Haiku 4.5 |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202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eiryo UI"/>
              </a:rPr>
              <a:t>| 料金 | $5 | $3 | $1 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488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Meiryo UI"/>
              </a:rPr>
              <a:t>| 拡張思考 | はい | はい | はい 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1">
                <a:solidFill>
                  <a:srgbClr val="2D2D8A"/>
                </a:solidFill>
                <a:latin typeface="Meiryo UI"/>
              </a:rPr>
              <a:t>| 適応思考 | はい | いいえ | いいえ |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651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808080"/>
                </a:solidFill>
                <a:latin typeface="Meiryo UI"/>
              </a:rPr>
              <a:t>（表全体を1つの単位として保持）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7432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339933"/>
                </a:solidFill>
                <a:latin typeface="Meiryo UI"/>
              </a:rPr>
              <a:t>→ 行・列の対応が完全に保たれ
　 全体構造を理解した回答が可能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062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2D8A"/>
                </a:solidFill>
                <a:latin typeface="Meiryo UI"/>
              </a:rPr>
              <a:t>本質的な違い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RAG = 文書を分割して必要な部分だけ見る　／　NotebookLM = 文書全体を保持して全体構造を把握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10. v7: 表認識チャンキングの実装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</a:rPr>
              <a:t>改善案: Markdownの表を検出し、表全体を1つのチャンクとして保持する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68000"/>
                </a:solidFill>
                <a:latin typeface="Meiryo UI"/>
              </a:rPr>
              <a:t>Before (v6): 単純チャンク分割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4023360" cy="36576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Meiryo UI"/>
              </a:rPr>
              <a:t>ヘッダー行（500文字制限で別チャンク）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023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CC3333"/>
                </a:solidFill>
                <a:latin typeface="Meiryo UI"/>
              </a:rPr>
              <a:t>✕ 切断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4023360" cy="36576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774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データ行A・B（独立チャンク）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4023360" cy="365760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データ行C・D（独立チャンク）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339933"/>
                </a:solidFill>
                <a:latin typeface="Meiryo UI"/>
              </a:rPr>
              <a:t>After (v7): 表認識チャンキング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737360"/>
            <a:ext cx="4023360" cy="137160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19050">
            <a:solidFill>
              <a:srgbClr val="33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7830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ヘッダー行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01168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19456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37744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603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データ行D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788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808080"/>
                </a:solidFill>
                <a:latin typeface="Meiryo UI"/>
              </a:rPr>
              <a:t>（全行が1つのチャンクに）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520440"/>
            <a:ext cx="8046720" cy="12801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61188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2D8A"/>
                </a:solidFill>
                <a:latin typeface="Meiryo UI"/>
              </a:rPr>
              <a:t>実装の核心 (src/chunker.py)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8862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1. テキストを「表ブロック」と「通常テキストブロック」に分解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1148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2. Markdownの`|`で始まる連続行を検出し、表として1チャンクにまとめる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434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3. 表の直前のセクション見出し（##）も同じチャンクに含める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5720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4. 各チャンクに metadata.block_type で「table」「text」のラベルを付与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11. v7 結果: 9/10（+1問改善）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9999"/>
                </a:solidFill>
                <a:latin typeface="Meiryo UI"/>
              </a:rPr>
              <a:t>v6 → v7 の質問別比較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" cy="3200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371600"/>
            <a:ext cx="3657600" cy="3200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54880" y="1371600"/>
            <a:ext cx="1920240" cy="3200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371600"/>
            <a:ext cx="960120" cy="3200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35240" y="1371600"/>
            <a:ext cx="960120" cy="320040"/>
          </a:xfrm>
          <a:prstGeom prst="rect">
            <a:avLst/>
          </a:prstGeom>
          <a:solidFill>
            <a:srgbClr val="2D2D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カテゴリ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17320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正解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173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v6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417320"/>
            <a:ext cx="960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eiryo UI"/>
              </a:rPr>
              <a:t>v7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691640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1691640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1691640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691640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35240" y="1691640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172821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172821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否定（〜しない）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72821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Haiku 4.5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172821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72821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1938528"/>
            <a:ext cx="548640" cy="24688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1938528"/>
            <a:ext cx="3657600" cy="24688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1938528"/>
            <a:ext cx="1920240" cy="24688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1938528"/>
            <a:ext cx="960120" cy="24688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635240" y="1938528"/>
            <a:ext cx="960120" cy="246888"/>
          </a:xfrm>
          <a:prstGeom prst="rect">
            <a:avLst/>
          </a:prstGeom>
          <a:solidFill>
            <a:srgbClr val="BBE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197510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197510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カウント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197510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2個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9751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C3333"/>
                </a:solidFill>
                <a:latin typeface="Meiryo UI"/>
              </a:rPr>
              <a:t>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19751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C3333"/>
                </a:solidFill>
                <a:latin typeface="Meiryo UI"/>
              </a:rPr>
              <a:t>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185416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97280" y="2185416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2185416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75120" y="2185416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2185416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2219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222199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紛らわしい命名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222199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$0.25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222199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22199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2432304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7280" y="2432304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54880" y="2432304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75120" y="2432304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2432304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246888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88720" y="246888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順位付け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0" y="246888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Haiku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246888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246888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2679192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97280" y="2679192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54880" y="2679192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675120" y="2679192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35240" y="2679192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271576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2715768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記載なし推論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54880" y="2715768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いいえ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271576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35240" y="271576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640" y="2926080"/>
            <a:ext cx="54864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97280" y="2926080"/>
            <a:ext cx="365760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0" y="2926080"/>
            <a:ext cx="192024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675120" y="2926080"/>
            <a:ext cx="96012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35240" y="2926080"/>
            <a:ext cx="96012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296265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88720" y="2962656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複数セル算術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0" y="2962656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$4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2962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CC3333"/>
                </a:solidFill>
                <a:latin typeface="Meiryo UI"/>
              </a:rPr>
              <a:t>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635240" y="29626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3172968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97280" y="3172968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754880" y="3172968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75120" y="3172968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635240" y="3172968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48640" y="320954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Q7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88720" y="3209544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バージョン混同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0" y="3209544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output_config.format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5120" y="320954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635240" y="320954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48640" y="3419856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7280" y="3419856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754880" y="3419856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675120" y="3419856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635240" y="3419856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34564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Q8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188720" y="3456432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比率・乗数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54880" y="3456432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1.25倍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75120" y="34564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635240" y="34564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48640" y="3666744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97280" y="3666744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3666744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675120" y="3666744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635240" y="3666744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48640" y="37033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188720" y="3703320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暗黙の制約判定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54880" y="370332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いいえ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675120" y="37033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635240" y="37033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8640" y="3913631"/>
            <a:ext cx="5486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97280" y="3913631"/>
            <a:ext cx="365760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54880" y="3913631"/>
            <a:ext cx="192024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675120" y="3913631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635240" y="3913631"/>
            <a:ext cx="9601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48640" y="3950207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2D2D8A"/>
                </a:solidFill>
                <a:latin typeface="Meiryo UI"/>
              </a:rPr>
              <a:t>Q10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188720" y="3950207"/>
            <a:ext cx="3566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非推奨判定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4880" y="3950207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Meiryo UI"/>
              </a:rPr>
              <a:t>"enabled"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75120" y="3950207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950207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339933"/>
                </a:solidFill>
                <a:latin typeface="Meiryo UI"/>
              </a:rPr>
              <a:t>○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48640" y="46177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Q6が解けるようになったのは、料金表全体（11モデル × 5列）が1チャンクで取得されたため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12. v7でもQ2が解けない理由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04040"/>
                </a:solidFill>
                <a:latin typeface="Meiryo UI"/>
              </a:rPr>
              <a:t>表認識チャンキングだけでは解決しない、別の問題が判明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2D8A"/>
                </a:solidFill>
                <a:latin typeface="Meiryo UI"/>
              </a:rPr>
              <a:t>質問: 「最新モデル比較表で『適応思考: いいえ』のモデルは何個？」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68000"/>
                </a:solidFill>
                <a:latin typeface="Meiryo UI"/>
              </a:rPr>
              <a:t>→ RAGの回答: 「資料に情報が含まれていません」（v6・v7とも同じ）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Meiryo UI"/>
              </a:rPr>
              <a:t>v7の検索結果 Top 8 を確認すると…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5117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1位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55117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extended-thinking.md (説明文)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55117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70632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0720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2位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072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prompt-engineering.md (説明文)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80720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26664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6324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3位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063240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extended-thinking.md (説明文)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6324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0.352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82696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31927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4位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331927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prompt-engineering.md (説明文)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1927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0.353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38728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57530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5〜7位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57530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extended-thinking.md (説明文)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575304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94760"/>
            <a:ext cx="8046720" cy="246888"/>
          </a:xfrm>
          <a:prstGeom prst="rect">
            <a:avLst/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8313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8位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831336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extended-thinking.md (表)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83133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0.366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050792"/>
            <a:ext cx="8046720" cy="246888"/>
          </a:xfrm>
          <a:prstGeom prst="rect">
            <a:avLst/>
          </a:prstGeom>
          <a:solidFill>
            <a:srgbClr val="99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08736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圏外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8736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models_overview.md (表) ← 必要なチャンク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087368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距離 0.400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49884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原因: 「適応思考」キーワードが説明文に多数出現するため、説明文チャンクが上位を占める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7091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eiryo UI"/>
              </a:rPr>
              <a:t>models_overview.mdの表内に「適応思考」は1行しかなく、相対的な類似度が低くなる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13. 結論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09728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7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999"/>
                </a:solidFill>
                <a:latin typeface="Meiryo U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単純な事実抽出ではRAGとNotebookLMはほぼ同等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v4（事実抽出）では RAG 94%、v5（マルチソース）では RAG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842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999"/>
                </a:solidFill>
                <a:latin typeface="Meiryo U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965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RAGの構造的弱点は表データで露呈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2402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v6では RAG 80% vs NotebookLM 100%、Q2（カウント）とQ6（複数セル算術）で失敗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5176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6148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999"/>
                </a:solidFill>
                <a:latin typeface="Meiryo UI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743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本質的な違いは「文書の渡し方」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017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RAG = 部分（チャンク）／ NotebookLM = 全体保持。LLMの能力差ではない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2900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3872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999"/>
                </a:solidFill>
                <a:latin typeface="Meiryo UI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5204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工夫すればRAGも改善できる（v7で実証）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94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表認識チャンキングで Q6 が解けるようになり、80% → 90% に向上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6350">
            <a:solidFill>
              <a:srgbClr val="00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159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9999"/>
                </a:solidFill>
                <a:latin typeface="Meiryo UI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97679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ただし汎用的な解決には限界がある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572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Q2のような検索バイアスは別の改善が必要で、副作用なしの解決は難しい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14. 実験を通じて学んだこと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技術的な学び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3152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417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チャンク分割は表データに不利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45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ヘッダーとセルが分離すると意味が失われる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73152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57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クロスリンガル検索の限界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286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all-MiniLM-L6-v2 → multilingual-e5-large に変更で大幅改善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73152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974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検索バイアスの存在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926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頻出キーワードを含む説明文が上位を独占する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73152" cy="5486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337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プロンプトで挙動を制御可能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推測禁止・論理的推論の明示で精度向上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実験設計の学び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1417320"/>
            <a:ext cx="73152" cy="5486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14173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採点基準の重要性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16459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再現性のある評価には客観的なルーブリックが必須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057400"/>
            <a:ext cx="73152" cy="5486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9472" y="20574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質問設計が成果を左右する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22860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v5で天井→v6で意図的に弱点を突き差を発見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2697480"/>
            <a:ext cx="73152" cy="5486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26974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ベースライン比較の価値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19472" y="2926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NotebookLM比較で構造的な違いが明確化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3337560"/>
            <a:ext cx="73152" cy="548640"/>
          </a:xfrm>
          <a:prstGeom prst="rect">
            <a:avLst/>
          </a:prstGeom>
          <a:solidFill>
            <a:srgbClr val="33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3337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D2D8A"/>
                </a:solidFill>
                <a:latin typeface="Meiryo UI"/>
              </a:rPr>
              <a:t>仮説→実装→検証のサイクル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9472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v7で仮説を実装し、改善と限界を同時に発見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0000"/>
            </a:avLst>
          </a:prstGeom>
          <a:solidFill>
            <a:srgbClr val="BBE0E3"/>
          </a:solidFill>
          <a:ln w="12700">
            <a:solidFill>
              <a:srgbClr val="2D2D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D2D8A"/>
                </a:solidFill>
                <a:latin typeface="Meiryo UI"/>
              </a:rPr>
              <a:t>最も重要な気づき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43484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9999"/>
                </a:solidFill>
                <a:latin typeface="Meiryo UI"/>
              </a:rPr>
              <a:t>RAGの限界はLLMの能力ではなく、「情報の渡し方」に起因する構造的なもの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15. 今後の課題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8640" y="100584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508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789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Q2の解決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課題: 「カウント」「集計」のような全行走査が必要な質問への対応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9999"/>
                </a:solidFill>
                <a:latin typeface="Meiryo UI"/>
              </a:rPr>
              <a:t>対策案: ハイブリッド検索（セマンティック + BM25）/ メタデータフィルタリング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508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検索バイアスの緩和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課題: 頻出キーワードによる説明文偏重を解消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9999"/>
                </a:solidFill>
                <a:latin typeface="Meiryo UI"/>
              </a:rPr>
              <a:t>対策案: Multi-Query Retrieval / リランカーの導入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6032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508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評価の自動化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88036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課題: 現在は人力での採点。再現性をさらに高めるには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6324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9999"/>
                </a:solidFill>
                <a:latin typeface="Meiryo UI"/>
              </a:rPr>
              <a:t>対策案: LLM-as-Judge による自動採点（評価専用エージェント）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3756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508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10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質問セットの拡充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課題: n=10では統計的有意性の議論ができない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84048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9999"/>
                </a:solidFill>
                <a:latin typeface="Meiryo UI"/>
              </a:rPr>
              <a:t>対策案: 質問の複雑度別に各20問程度に拡張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114800"/>
            <a:ext cx="8046720" cy="713232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 w="508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D2D8A"/>
                </a:solidFill>
                <a:latin typeface="Meiryo UI"/>
              </a:rPr>
              <a:t>ハイブリッドアプローチ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課題: 「RAG + 全文書投入」の組み合わせ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17720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09999"/>
                </a:solidFill>
                <a:latin typeface="Meiryo UI"/>
              </a:rPr>
              <a:t>対策案: 検索結果に加えて文書の目次・見出しも提示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73152" cy="4114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D2D8A"/>
                </a:solidFill>
                <a:latin typeface="Meiryo UI"/>
              </a:rPr>
              <a:t>16. 参考情報・成果物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" y="841248"/>
            <a:ext cx="8412480" cy="0"/>
          </a:xfrm>
          <a:prstGeom prst="line">
            <a:avLst/>
          </a:prstGeom>
          <a:ln w="19050">
            <a:solidFill>
              <a:srgbClr val="00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ソースコード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8046720" cy="502920"/>
          </a:xfrm>
          <a:prstGeom prst="roundRect">
            <a:avLst>
              <a:gd name="adj" fmla="val 10000"/>
            </a:avLst>
          </a:prstGeom>
          <a:solidFill>
            <a:srgbClr val="DA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2D2D8A"/>
                </a:solidFill>
                <a:latin typeface="Meiryo UI"/>
              </a:rPr>
              <a:t>GitHub: https://github.com/shogonakamura1/rag-comparison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9999"/>
                </a:solidFill>
                <a:latin typeface="Meiryo UI"/>
              </a:rPr>
              <a:t>評価結果ファイル（evaluation/results/）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v1_baseline_*.{json,md}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ベースライン評価（旧質問セット）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v2_query_translation_*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2432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クエリ翻訳実験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7121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v3_filtering_*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7121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距離フィルタリング + A/Bテスト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118104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v4_fact_extraction_*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1810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単一ソース事実抽出（94%）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649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v5_multi_source_*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64992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複数ソース・計算問題（100%）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118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v6_weakness_targeted_*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6118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RAG弱点特化（80%）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587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v6_rag_vs_notebooklm_comparison.md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5876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NotebookLM 直接比較レポート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0565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2D2D8A"/>
                </a:solidFill>
                <a:latin typeface="Meiryo UI"/>
              </a:rPr>
              <a:t>v7_table_chunking_*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105656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</a:rPr>
              <a:t>表認識チャンキング（90%）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26280"/>
            <a:ext cx="8046720" cy="36576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57200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04040"/>
                </a:solidFill>
                <a:latin typeface="Meiryo UI"/>
              </a:rPr>
              <a:t>Python / ChromaDB / sentence-transformers / Gemini API / cc-sdd（仕様駆動開発）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892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Meiryo UI"/>
              </a:rPr>
              <a:t>RAG vs NotebookLM 比較実験レポート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89204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Meiryo U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