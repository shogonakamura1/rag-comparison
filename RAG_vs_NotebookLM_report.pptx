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1" r:id="rId1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746"/>
    <p:restoredTop sz="94689"/>
  </p:normalViewPr>
  <p:slideViewPr>
    <p:cSldViewPr snapToGrid="0" snapToObjects="1">
      <p:cViewPr varScale="1">
        <p:scale>
          <a:sx n="197" d="100"/>
          <a:sy n="197" d="100"/>
        </p:scale>
        <p:origin x="102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D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D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37160" cy="274320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7772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dirty="0" err="1">
                <a:solidFill>
                  <a:srgbClr val="2D2D8A"/>
                </a:solidFill>
                <a:latin typeface="Meiryo UI"/>
              </a:rPr>
              <a:t>RAGシステムとGoogle</a:t>
            </a:r>
            <a:r>
              <a:rPr sz="3200" b="1" dirty="0">
                <a:solidFill>
                  <a:srgbClr val="2D2D8A"/>
                </a:solidFill>
                <a:latin typeface="Meiryo UI"/>
              </a:rPr>
              <a:t> </a:t>
            </a:r>
            <a:r>
              <a:rPr sz="3200" b="1" dirty="0" err="1">
                <a:solidFill>
                  <a:srgbClr val="2D2D8A"/>
                </a:solidFill>
                <a:latin typeface="Meiryo UI"/>
              </a:rPr>
              <a:t>NotebookLM</a:t>
            </a:r>
            <a:endParaRPr sz="3200" b="1" dirty="0">
              <a:solidFill>
                <a:srgbClr val="2D2D8A"/>
              </a:solidFill>
              <a:latin typeface="Meiryo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7772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dirty="0" err="1">
                <a:solidFill>
                  <a:srgbClr val="2D2D8A"/>
                </a:solidFill>
                <a:latin typeface="Meiryo UI"/>
              </a:rPr>
              <a:t>の比較実験</a:t>
            </a:r>
            <a:endParaRPr sz="3200" b="1" dirty="0">
              <a:solidFill>
                <a:srgbClr val="2D2D8A"/>
              </a:solidFill>
              <a:latin typeface="Meiryo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  <a:latin typeface="Meiryo UI"/>
              </a:rPr>
              <a:t>Claude 公式ドキュメントを対象とした事実抽出評価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77724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>
                <a:solidFill>
                  <a:srgbClr val="404040"/>
                </a:solidFill>
                <a:latin typeface="Meiryo UI"/>
              </a:rPr>
              <a:t>中村　</a:t>
            </a:r>
            <a:r>
              <a:rPr lang="ja-JP" altLang="en-US" sz="1400" b="0">
                <a:solidFill>
                  <a:srgbClr val="404040"/>
                </a:solidFill>
                <a:latin typeface="Meiryo UI"/>
              </a:rPr>
              <a:t>彰吾</a:t>
            </a:r>
            <a:endParaRPr sz="1400" b="0" dirty="0">
              <a:solidFill>
                <a:srgbClr val="404040"/>
              </a:solidFill>
              <a:latin typeface="Meiryo U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4297680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808080"/>
                </a:solidFill>
                <a:latin typeface="Meiryo UI"/>
              </a:rPr>
              <a:t>2026年4月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20040"/>
            <a:ext cx="73152" cy="41148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D2D8A"/>
                </a:solidFill>
                <a:latin typeface="Meiryo UI"/>
              </a:rPr>
              <a:t>1. 研究の目的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841248"/>
            <a:ext cx="8412480" cy="0"/>
          </a:xfrm>
          <a:prstGeom prst="line">
            <a:avLst/>
          </a:prstGeom>
          <a:ln w="1905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0058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9999"/>
                </a:solidFill>
                <a:latin typeface="Meiryo UI"/>
              </a:rPr>
              <a:t>課題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8229600" cy="594360"/>
          </a:xfrm>
          <a:prstGeom prst="roundRect">
            <a:avLst>
              <a:gd name="adj" fmla="val 10000"/>
            </a:avLst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538198"/>
            <a:ext cx="786384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dirty="0">
                <a:solidFill>
                  <a:srgbClr val="2D2D8A"/>
                </a:solidFill>
                <a:latin typeface="Meiryo UI"/>
              </a:rPr>
              <a:t>「</a:t>
            </a:r>
            <a:r>
              <a:rPr sz="1400" b="0" dirty="0" err="1">
                <a:solidFill>
                  <a:srgbClr val="2D2D8A"/>
                </a:solidFill>
                <a:latin typeface="Meiryo UI"/>
              </a:rPr>
              <a:t>自分が作ったRAGシステムとGoogle</a:t>
            </a:r>
            <a:r>
              <a:rPr sz="1400" b="0" dirty="0">
                <a:solidFill>
                  <a:srgbClr val="2D2D8A"/>
                </a:solidFill>
                <a:latin typeface="Meiryo UI"/>
              </a:rPr>
              <a:t> </a:t>
            </a:r>
            <a:r>
              <a:rPr sz="1400" b="0" dirty="0" err="1">
                <a:solidFill>
                  <a:srgbClr val="2D2D8A"/>
                </a:solidFill>
                <a:latin typeface="Meiryo UI"/>
              </a:rPr>
              <a:t>NotebookLMの違いを観察する</a:t>
            </a:r>
            <a:r>
              <a:rPr sz="1400" b="0" dirty="0">
                <a:solidFill>
                  <a:srgbClr val="2D2D8A"/>
                </a:solidFill>
                <a:latin typeface="Meiryo UI"/>
              </a:rPr>
              <a:t>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9999"/>
                </a:solidFill>
                <a:latin typeface="Meiryo UI"/>
              </a:rPr>
              <a:t>実施項目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9999"/>
                </a:solidFill>
                <a:latin typeface="Meiryo UI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2316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eiryo UI"/>
              </a:rPr>
              <a:t>自作RAGシステムの構築（Python・ChromaDB・Gemini API）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346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9999"/>
                </a:solidFill>
                <a:latin typeface="Meiryo UI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3464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>
                <a:solidFill>
                  <a:srgbClr val="000000"/>
                </a:solidFill>
                <a:latin typeface="Meiryo UI"/>
              </a:rPr>
              <a:t>ソース文書（10ファイル）と質問セットの作成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4612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9999"/>
                </a:solidFill>
                <a:latin typeface="Meiryo UI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4612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eiryo UI"/>
              </a:rPr>
              <a:t>RAGとNotebookLMの両方で同じ質問を実行・回答を比較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9999"/>
                </a:solidFill>
                <a:latin typeface="Meiryo UI"/>
              </a:rPr>
              <a:t>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5760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eiryo UI"/>
              </a:rPr>
              <a:t>RAGの弱点を分析し、改善実装で性能向上を試行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519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 err="1">
                <a:solidFill>
                  <a:srgbClr val="009999"/>
                </a:solidFill>
                <a:latin typeface="Meiryo UI"/>
              </a:rPr>
              <a:t>ゴール</a:t>
            </a:r>
            <a:endParaRPr sz="1400" b="1" dirty="0">
              <a:solidFill>
                <a:srgbClr val="009999"/>
              </a:solidFill>
              <a:latin typeface="Meiryo U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48640" y="44805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  <a:latin typeface="Meiryo UI"/>
              </a:rPr>
              <a:t>両システムの構造的な違いを実験により定量的に明らかにする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89204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Meiryo UI"/>
              </a:rPr>
              <a:t>RAG vs NotebookLM 比較実験レポート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9204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eiryo U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20040"/>
            <a:ext cx="73152" cy="41148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D2D8A"/>
                </a:solidFill>
                <a:latin typeface="Meiryo UI"/>
              </a:rPr>
              <a:t>2. 自作RAGシステムのアーキテクチャ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841248"/>
            <a:ext cx="8412480" cy="0"/>
          </a:xfrm>
          <a:prstGeom prst="line">
            <a:avLst/>
          </a:prstGeom>
          <a:ln w="1905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9999"/>
                </a:solidFill>
                <a:latin typeface="Meiryo UI"/>
              </a:rPr>
              <a:t>フェーズ1: ドキュメント取り込み（インジェスト）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463040" cy="777240"/>
          </a:xfrm>
          <a:prstGeom prst="roundRect">
            <a:avLst>
              <a:gd name="adj" fmla="val 10000"/>
            </a:avLst>
          </a:prstGeom>
          <a:solidFill>
            <a:srgbClr val="BBE0E3"/>
          </a:solidFill>
          <a:ln w="9525">
            <a:solidFill>
              <a:srgbClr val="2D2D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D2D8A"/>
                </a:solidFill>
                <a:latin typeface="Meiryo UI"/>
              </a:rPr>
              <a:t>URL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18488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404040"/>
                </a:solidFill>
                <a:latin typeface="Meiryo UI"/>
              </a:rPr>
              <a:t>Claude公式
ドキュメント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938528" y="1618488"/>
            <a:ext cx="192024" cy="182880"/>
          </a:xfrm>
          <a:prstGeom prst="rightArrow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148840" y="1325880"/>
            <a:ext cx="1463040" cy="777240"/>
          </a:xfrm>
          <a:prstGeom prst="roundRect">
            <a:avLst>
              <a:gd name="adj" fmla="val 10000"/>
            </a:avLst>
          </a:prstGeom>
          <a:solidFill>
            <a:srgbClr val="BBE0E3"/>
          </a:solidFill>
          <a:ln w="9525">
            <a:solidFill>
              <a:srgbClr val="2D2D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148840" y="137160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D2D8A"/>
                </a:solidFill>
                <a:latin typeface="Meiryo UI"/>
              </a:rPr>
              <a:t>WebFetch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1675050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dirty="0" err="1">
                <a:solidFill>
                  <a:srgbClr val="404040"/>
                </a:solidFill>
                <a:latin typeface="Meiryo UI"/>
              </a:rPr>
              <a:t>本文抽出</a:t>
            </a:r>
            <a:endParaRPr sz="900" b="0" dirty="0">
              <a:solidFill>
                <a:srgbClr val="404040"/>
              </a:solidFill>
              <a:latin typeface="Meiryo UI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3630168" y="1618488"/>
            <a:ext cx="192024" cy="182880"/>
          </a:xfrm>
          <a:prstGeom prst="rightArrow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840480" y="1325880"/>
            <a:ext cx="1463040" cy="777240"/>
          </a:xfrm>
          <a:prstGeom prst="roundRect">
            <a:avLst>
              <a:gd name="adj" fmla="val 10000"/>
            </a:avLst>
          </a:prstGeom>
          <a:solidFill>
            <a:srgbClr val="BBE0E3"/>
          </a:solidFill>
          <a:ln w="9525">
            <a:solidFill>
              <a:srgbClr val="2D2D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0480" y="137160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D2D8A"/>
                </a:solidFill>
                <a:latin typeface="Meiryo UI"/>
              </a:rPr>
              <a:t>チャンク分割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618488"/>
            <a:ext cx="146304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dirty="0">
                <a:solidFill>
                  <a:srgbClr val="404040"/>
                </a:solidFill>
                <a:latin typeface="Meiryo UI"/>
              </a:rPr>
              <a:t>500文字
+ </a:t>
            </a:r>
            <a:endParaRPr lang="en-US" sz="900" b="0" dirty="0">
              <a:solidFill>
                <a:srgbClr val="404040"/>
              </a:solidFill>
              <a:latin typeface="Meiryo UI"/>
            </a:endParaRPr>
          </a:p>
          <a:p>
            <a:pPr algn="ctr"/>
            <a:r>
              <a:rPr sz="900" b="0" dirty="0">
                <a:solidFill>
                  <a:srgbClr val="404040"/>
                </a:solidFill>
                <a:latin typeface="Meiryo UI"/>
              </a:rPr>
              <a:t>オーバーラップ100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321808" y="1618488"/>
            <a:ext cx="192024" cy="182880"/>
          </a:xfrm>
          <a:prstGeom prst="rightArrow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532120" y="1325880"/>
            <a:ext cx="1463040" cy="777240"/>
          </a:xfrm>
          <a:prstGeom prst="roundRect">
            <a:avLst>
              <a:gd name="adj" fmla="val 10000"/>
            </a:avLst>
          </a:prstGeom>
          <a:solidFill>
            <a:srgbClr val="BBE0E3"/>
          </a:solidFill>
          <a:ln w="9525">
            <a:solidFill>
              <a:srgbClr val="2D2D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32120" y="137160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D2D8A"/>
                </a:solidFill>
                <a:latin typeface="Meiryo UI"/>
              </a:rPr>
              <a:t>Embedding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2120" y="1618488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404040"/>
                </a:solidFill>
                <a:latin typeface="Meiryo UI"/>
              </a:rPr>
              <a:t>multilingual-
e5-large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013448" y="1618488"/>
            <a:ext cx="192024" cy="182880"/>
          </a:xfrm>
          <a:prstGeom prst="rightArrow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223760" y="1325880"/>
            <a:ext cx="1463040" cy="777240"/>
          </a:xfrm>
          <a:prstGeom prst="roundRect">
            <a:avLst>
              <a:gd name="adj" fmla="val 10000"/>
            </a:avLst>
          </a:prstGeom>
          <a:solidFill>
            <a:srgbClr val="BBE0E3"/>
          </a:solidFill>
          <a:ln w="9525">
            <a:solidFill>
              <a:srgbClr val="2D2D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23760" y="137160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D2D8A"/>
                </a:solidFill>
                <a:latin typeface="Meiryo UI"/>
              </a:rPr>
              <a:t>ChromaDB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1618488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404040"/>
                </a:solidFill>
                <a:latin typeface="Meiryo UI"/>
              </a:rPr>
              <a:t>ローカル
保存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6060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9999"/>
                </a:solidFill>
                <a:latin typeface="Meiryo UI"/>
              </a:rPr>
              <a:t>フェーズ2: 質問応答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2926080"/>
            <a:ext cx="1463040" cy="777240"/>
          </a:xfrm>
          <a:prstGeom prst="roundRect">
            <a:avLst>
              <a:gd name="adj" fmla="val 10000"/>
            </a:avLst>
          </a:prstGeom>
          <a:solidFill>
            <a:srgbClr val="DAEDEF"/>
          </a:solidFill>
          <a:ln w="9525">
            <a:solidFill>
              <a:srgbClr val="333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297180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333399"/>
                </a:solidFill>
                <a:latin typeface="Meiryo UI"/>
              </a:rPr>
              <a:t>質問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291115"/>
            <a:ext cx="14630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dirty="0" err="1">
                <a:solidFill>
                  <a:srgbClr val="404040"/>
                </a:solidFill>
                <a:latin typeface="Meiryo UI"/>
              </a:rPr>
              <a:t>ユーザーの質問</a:t>
            </a:r>
            <a:endParaRPr sz="900" b="0" dirty="0">
              <a:solidFill>
                <a:srgbClr val="404040"/>
              </a:solidFill>
              <a:latin typeface="Meiryo UI"/>
            </a:endParaRPr>
          </a:p>
        </p:txBody>
      </p:sp>
      <p:sp>
        <p:nvSpPr>
          <p:cNvPr id="29" name="Right Arrow 28"/>
          <p:cNvSpPr/>
          <p:nvPr/>
        </p:nvSpPr>
        <p:spPr>
          <a:xfrm>
            <a:off x="1938528" y="3218688"/>
            <a:ext cx="192024" cy="182880"/>
          </a:xfrm>
          <a:prstGeom prst="rightArrow">
            <a:avLst/>
          </a:prstGeom>
          <a:solidFill>
            <a:srgbClr val="33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2148840" y="2926080"/>
            <a:ext cx="1463040" cy="777240"/>
          </a:xfrm>
          <a:prstGeom prst="roundRect">
            <a:avLst>
              <a:gd name="adj" fmla="val 10000"/>
            </a:avLst>
          </a:prstGeom>
          <a:solidFill>
            <a:srgbClr val="DAEDEF"/>
          </a:solidFill>
          <a:ln w="9525">
            <a:solidFill>
              <a:srgbClr val="333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148840" y="297180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333399"/>
                </a:solidFill>
                <a:latin typeface="Meiryo UI"/>
              </a:rPr>
              <a:t>Embedding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3289832"/>
            <a:ext cx="14630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dirty="0" err="1">
                <a:solidFill>
                  <a:srgbClr val="404040"/>
                </a:solidFill>
                <a:latin typeface="Meiryo UI"/>
              </a:rPr>
              <a:t>クエリのベクトル化</a:t>
            </a:r>
            <a:endParaRPr sz="900" b="0" dirty="0">
              <a:solidFill>
                <a:srgbClr val="404040"/>
              </a:solidFill>
              <a:latin typeface="Meiryo UI"/>
            </a:endParaRPr>
          </a:p>
        </p:txBody>
      </p:sp>
      <p:sp>
        <p:nvSpPr>
          <p:cNvPr id="33" name="Right Arrow 32"/>
          <p:cNvSpPr/>
          <p:nvPr/>
        </p:nvSpPr>
        <p:spPr>
          <a:xfrm>
            <a:off x="3630168" y="3218688"/>
            <a:ext cx="192024" cy="182880"/>
          </a:xfrm>
          <a:prstGeom prst="rightArrow">
            <a:avLst/>
          </a:prstGeom>
          <a:solidFill>
            <a:srgbClr val="33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3840480" y="2926080"/>
            <a:ext cx="1463040" cy="777240"/>
          </a:xfrm>
          <a:prstGeom prst="roundRect">
            <a:avLst>
              <a:gd name="adj" fmla="val 10000"/>
            </a:avLst>
          </a:prstGeom>
          <a:solidFill>
            <a:srgbClr val="DAEDEF"/>
          </a:solidFill>
          <a:ln w="9525">
            <a:solidFill>
              <a:srgbClr val="333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840480" y="297180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333399"/>
                </a:solidFill>
                <a:latin typeface="Meiryo UI"/>
              </a:rPr>
              <a:t>検索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0" y="3218688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404040"/>
                </a:solidFill>
                <a:latin typeface="Meiryo UI"/>
              </a:rPr>
              <a:t>ChromaDBから
Top-8チャンク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5321808" y="3218688"/>
            <a:ext cx="192024" cy="182880"/>
          </a:xfrm>
          <a:prstGeom prst="rightArrow">
            <a:avLst/>
          </a:prstGeom>
          <a:solidFill>
            <a:srgbClr val="33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5532120" y="2926080"/>
            <a:ext cx="1463040" cy="777240"/>
          </a:xfrm>
          <a:prstGeom prst="roundRect">
            <a:avLst>
              <a:gd name="adj" fmla="val 10000"/>
            </a:avLst>
          </a:prstGeom>
          <a:solidFill>
            <a:srgbClr val="DAEDEF"/>
          </a:solidFill>
          <a:ln w="9525">
            <a:solidFill>
              <a:srgbClr val="333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532120" y="297180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333399"/>
                </a:solidFill>
                <a:latin typeface="Meiryo UI"/>
              </a:rPr>
              <a:t>フィルタ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32120" y="3218688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404040"/>
                </a:solidFill>
                <a:latin typeface="Meiryo UI"/>
              </a:rPr>
              <a:t>距離0.45以下
のみ採用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7013448" y="3218688"/>
            <a:ext cx="192024" cy="182880"/>
          </a:xfrm>
          <a:prstGeom prst="rightArrow">
            <a:avLst/>
          </a:prstGeom>
          <a:solidFill>
            <a:srgbClr val="33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7223760" y="2926080"/>
            <a:ext cx="1463040" cy="777240"/>
          </a:xfrm>
          <a:prstGeom prst="roundRect">
            <a:avLst>
              <a:gd name="adj" fmla="val 10000"/>
            </a:avLst>
          </a:prstGeom>
          <a:solidFill>
            <a:srgbClr val="DAEDEF"/>
          </a:solidFill>
          <a:ln w="9525">
            <a:solidFill>
              <a:srgbClr val="333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223760" y="297180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333399"/>
                </a:solidFill>
                <a:latin typeface="Meiryo UI"/>
              </a:rPr>
              <a:t>LLM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23760" y="3218688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404040"/>
                </a:solidFill>
                <a:latin typeface="Meiryo UI"/>
              </a:rPr>
              <a:t>Gemini 2.5 Flash
で回答生成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023360"/>
            <a:ext cx="8046720" cy="640080"/>
          </a:xfrm>
          <a:prstGeom prst="roundRect">
            <a:avLst>
              <a:gd name="adj" fmla="val 10000"/>
            </a:avLst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77240" y="411480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D2D8A"/>
                </a:solidFill>
                <a:latin typeface="Meiryo UI"/>
              </a:rPr>
              <a:t>技術スタック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434340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</a:rPr>
              <a:t>Python 3.11+ / ChromaDB / sentence-transformers (multilingual-e5-large) / Gemini API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489204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Meiryo UI"/>
              </a:rPr>
              <a:t>RAG vs NotebookLM 比較実験レポート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0" y="489204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eiryo U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20040"/>
            <a:ext cx="73152" cy="41148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D2D8A"/>
                </a:solidFill>
                <a:latin typeface="Meiryo UI"/>
              </a:rPr>
              <a:t>3. ソース文書（10ファイル）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841248"/>
            <a:ext cx="8412480" cy="0"/>
          </a:xfrm>
          <a:prstGeom prst="line">
            <a:avLst/>
          </a:prstGeom>
          <a:ln w="1905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0058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eiryo UI"/>
              </a:rPr>
              <a:t>Anthropic 公式ドキュメント（platform.claude.com/docs/ja）から10ページを選定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45720" cy="292608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463040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2D8A"/>
                </a:solidFill>
                <a:latin typeface="Meiryo UI"/>
              </a:rPr>
              <a:t>models_overview.md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463040"/>
            <a:ext cx="2331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Claudeモデル一覧・料金・スペック比較表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01368"/>
            <a:ext cx="45720" cy="292608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801368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2D8A"/>
                </a:solidFill>
                <a:latin typeface="Meiryo UI"/>
              </a:rPr>
              <a:t>pricing.md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1801368"/>
            <a:ext cx="2331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詳細料金表（11モデル × 5列）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139696"/>
            <a:ext cx="45720" cy="292608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" y="2139696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2D8A"/>
                </a:solidFill>
                <a:latin typeface="Meiryo UI"/>
              </a:rPr>
              <a:t>tool_use.md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2139696"/>
            <a:ext cx="2331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Tool Use機能・関数呼び出し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478024"/>
            <a:ext cx="45720" cy="292608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" y="2478024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2D8A"/>
                </a:solidFill>
                <a:latin typeface="Meiryo UI"/>
              </a:rPr>
              <a:t>vision.md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2478024"/>
            <a:ext cx="2331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画像認識・対応フォーマット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816352"/>
            <a:ext cx="45720" cy="292608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" y="2816352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2D8A"/>
                </a:solidFill>
                <a:latin typeface="Meiryo UI"/>
              </a:rPr>
              <a:t>streaming.md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16352"/>
            <a:ext cx="2331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ストリーミング・SSEイベント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1463040"/>
            <a:ext cx="45720" cy="292608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56048" y="1463040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2D8A"/>
                </a:solidFill>
                <a:latin typeface="Meiryo UI"/>
              </a:rPr>
              <a:t>structured_outputs.md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463040"/>
            <a:ext cx="2331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JSON出力・厳格なツール使用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1801368"/>
            <a:ext cx="45720" cy="292608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56048" y="1801368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2D8A"/>
                </a:solidFill>
                <a:latin typeface="Meiryo UI"/>
              </a:rPr>
              <a:t>extended_thinking.md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1801368"/>
            <a:ext cx="2331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拡張思考・適応思考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46320" y="2139696"/>
            <a:ext cx="45720" cy="292608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56048" y="2139696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2D8A"/>
                </a:solidFill>
                <a:latin typeface="Meiryo UI"/>
              </a:rPr>
              <a:t>prompt_engineering.md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2139696"/>
            <a:ext cx="2331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プロンプトのベストプラクティス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2478024"/>
            <a:ext cx="45720" cy="292608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956048" y="2478024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2D8A"/>
                </a:solidFill>
                <a:latin typeface="Meiryo UI"/>
              </a:rPr>
              <a:t>batch_processing.md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2478024"/>
            <a:ext cx="2331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バッチAPIの仕様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46320" y="2816352"/>
            <a:ext cx="45720" cy="292608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956048" y="2816352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2D8A"/>
                </a:solidFill>
                <a:latin typeface="Meiryo UI"/>
              </a:rPr>
              <a:t>pdf_support.md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816352"/>
            <a:ext cx="2331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PDF処理機能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3291840"/>
            <a:ext cx="8046720" cy="1280160"/>
          </a:xfrm>
          <a:prstGeom prst="roundRect">
            <a:avLst>
              <a:gd name="adj" fmla="val 10000"/>
            </a:avLst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7240" y="3383280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D2D8A"/>
                </a:solidFill>
                <a:latin typeface="Meiryo UI"/>
              </a:rPr>
              <a:t>選定のポイント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3657600"/>
            <a:ext cx="7680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</a:rPr>
              <a:t>・ 全て日本語の公式ドキュメント（クロスリンガル問題を回避）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3867912"/>
            <a:ext cx="7680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</a:rPr>
              <a:t>・ 数値・表・固有名詞が豊富で「正解が一意に決まる」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078224"/>
            <a:ext cx="7680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</a:rPr>
              <a:t>・ AIが学習データから推測しないよう、最新モデル（Opus 4.6 等）の情報を含む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" y="4288536"/>
            <a:ext cx="7680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</a:rPr>
              <a:t>・ NotebookLMにも同じファイルをアップロードして公平に比較できる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489204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Meiryo UI"/>
              </a:rPr>
              <a:t>RAG vs NotebookLM 比較実験レポート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0" y="489204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eiryo U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20040"/>
            <a:ext cx="73152" cy="41148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D2D8A"/>
                </a:solidFill>
                <a:latin typeface="Meiryo UI"/>
              </a:rPr>
              <a:t>4. 評価ルーブリックの設計と改善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841248"/>
            <a:ext cx="8412480" cy="0"/>
          </a:xfrm>
          <a:prstGeom prst="line">
            <a:avLst/>
          </a:prstGeom>
          <a:ln w="1905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960120"/>
            <a:ext cx="8229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 err="1">
                <a:solidFill>
                  <a:srgbClr val="404040"/>
                </a:solidFill>
                <a:latin typeface="Meiryo UI"/>
              </a:rPr>
              <a:t>採点基準を明確化（途中で気づいた問題点を反映</a:t>
            </a:r>
            <a:r>
              <a:rPr sz="1200" b="0" dirty="0">
                <a:solidFill>
                  <a:srgbClr val="404040"/>
                </a:solidFill>
                <a:latin typeface="Meiryo UI"/>
              </a:rPr>
              <a:t>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2606040" cy="3108960"/>
          </a:xfrm>
          <a:prstGeom prst="roundRect">
            <a:avLst>
              <a:gd name="adj" fmla="val 10000"/>
            </a:avLst>
          </a:prstGeom>
          <a:solidFill>
            <a:srgbClr val="DAEDEF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D2D8A"/>
                </a:solidFill>
                <a:latin typeface="Meiryo UI"/>
              </a:rPr>
              <a:t>v1: 主観評価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AI生成の期待回答との一致度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CC3333"/>
                </a:solidFill>
                <a:latin typeface="Meiryo UI"/>
              </a:rPr>
              <a:t>問題点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31720"/>
            <a:ext cx="246888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Meiryo UI"/>
              </a:rPr>
              <a:t>・ 再現性なし
・ 採点者バイアス
・ 正解の妥当性が曖昧
・ 「軽微な誤り」と「重大な誤り」の境界不明
・ ポイントの粒度不明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246120" y="2743200"/>
            <a:ext cx="274320" cy="274320"/>
          </a:xfrm>
          <a:prstGeom prst="rightArrow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611880" y="1417320"/>
            <a:ext cx="2606040" cy="3108960"/>
          </a:xfrm>
          <a:prstGeom prst="roundRect">
            <a:avLst>
              <a:gd name="adj" fmla="val 10000"/>
            </a:avLst>
          </a:prstGeom>
          <a:solidFill>
            <a:srgbClr val="BBE0E3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03320" y="1508760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D2D8A"/>
                </a:solidFill>
                <a:latin typeface="Meiryo UI"/>
              </a:rPr>
              <a:t>v2: ルール詳細化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178308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三段論法テスト・カバー率計算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210312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339933"/>
                </a:solidFill>
                <a:latin typeface="Meiryo UI"/>
              </a:rPr>
              <a:t>改善点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2331720"/>
            <a:ext cx="246888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Meiryo UI"/>
              </a:rPr>
              <a:t>・ 平均スコア採用
・ 推論明示=5/暗黙=3
・ 古い情報=2
・ 単語レベルでポイント抽出
・ 迷ったら厳しい方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309360" y="2743200"/>
            <a:ext cx="274320" cy="274320"/>
          </a:xfrm>
          <a:prstGeom prst="rightArrow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675120" y="1417320"/>
            <a:ext cx="1920240" cy="3108960"/>
          </a:xfrm>
          <a:prstGeom prst="roundRect">
            <a:avLst>
              <a:gd name="adj" fmla="val 10000"/>
            </a:avLst>
          </a:prstGeom>
          <a:solidFill>
            <a:srgbClr val="BBE0E3"/>
          </a:solidFill>
          <a:ln w="15240">
            <a:solidFill>
              <a:srgbClr val="2D2D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1508760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D2D8A"/>
                </a:solidFill>
                <a:latin typeface="Meiryo UI"/>
              </a:rPr>
              <a:t>v3: 客観評価へ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178308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正解一致型に転換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10312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9999"/>
                </a:solidFill>
                <a:latin typeface="Meiryo UI"/>
              </a:rPr>
              <a:t>決定版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331720"/>
            <a:ext cx="17830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solidFill>
                  <a:srgbClr val="000000"/>
                </a:solidFill>
                <a:latin typeface="Meiryo UI"/>
              </a:rPr>
              <a:t>・ 1問1答
・ </a:t>
            </a:r>
            <a:r>
              <a:rPr sz="900" b="0" dirty="0" err="1">
                <a:solidFill>
                  <a:srgbClr val="000000"/>
                </a:solidFill>
                <a:latin typeface="Meiryo UI"/>
              </a:rPr>
              <a:t>単語</a:t>
            </a:r>
            <a:r>
              <a:rPr sz="900" b="0" dirty="0">
                <a:solidFill>
                  <a:srgbClr val="000000"/>
                </a:solidFill>
                <a:latin typeface="Meiryo UI"/>
              </a:rPr>
              <a:t>/</a:t>
            </a:r>
            <a:r>
              <a:rPr sz="900" b="0" dirty="0" err="1">
                <a:solidFill>
                  <a:srgbClr val="000000"/>
                </a:solidFill>
                <a:latin typeface="Meiryo UI"/>
              </a:rPr>
              <a:t>数値で明確に正誤</a:t>
            </a:r>
            <a:r>
              <a:rPr sz="900" b="0" dirty="0">
                <a:solidFill>
                  <a:srgbClr val="000000"/>
                </a:solidFill>
                <a:latin typeface="Meiryo UI"/>
              </a:rPr>
              <a:t>
・ </a:t>
            </a:r>
            <a:r>
              <a:rPr sz="900" b="0" dirty="0" err="1">
                <a:solidFill>
                  <a:srgbClr val="000000"/>
                </a:solidFill>
                <a:latin typeface="Meiryo UI"/>
              </a:rPr>
              <a:t>模範回答とソース位置を明示</a:t>
            </a:r>
            <a:endParaRPr sz="900" b="0" dirty="0">
              <a:solidFill>
                <a:srgbClr val="000000"/>
              </a:solidFill>
              <a:latin typeface="Meiryo U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48640" y="46177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9999"/>
                </a:solidFill>
                <a:latin typeface="Meiryo UI"/>
              </a:rPr>
              <a:t>学んだこと: 「正解が一意に決まる質問」を作ることが、再現性のある評価の前提条件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89204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Meiryo UI"/>
              </a:rPr>
              <a:t>RAG vs NotebookLM 比較実験レポート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89204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eiryo U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20040"/>
            <a:ext cx="73152" cy="41148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D2D8A"/>
                </a:solidFill>
                <a:latin typeface="Meiryo UI"/>
              </a:rPr>
              <a:t>5. 質問セットの進化（v1〜v6）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841248"/>
            <a:ext cx="8412480" cy="0"/>
          </a:xfrm>
          <a:prstGeom prst="line">
            <a:avLst/>
          </a:prstGeom>
          <a:ln w="1905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051560"/>
            <a:ext cx="640080" cy="365760"/>
          </a:xfrm>
          <a:prstGeom prst="rect">
            <a:avLst/>
          </a:prstGeom>
          <a:solidFill>
            <a:srgbClr val="2D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88720" y="1051560"/>
            <a:ext cx="1371600" cy="365760"/>
          </a:xfrm>
          <a:prstGeom prst="rect">
            <a:avLst/>
          </a:prstGeom>
          <a:solidFill>
            <a:srgbClr val="2D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560320" y="1051560"/>
            <a:ext cx="914400" cy="365760"/>
          </a:xfrm>
          <a:prstGeom prst="rect">
            <a:avLst/>
          </a:prstGeom>
          <a:solidFill>
            <a:srgbClr val="2D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74720" y="1051560"/>
            <a:ext cx="4114800" cy="365760"/>
          </a:xfrm>
          <a:prstGeom prst="rect">
            <a:avLst/>
          </a:prstGeom>
          <a:solidFill>
            <a:srgbClr val="2D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589520" y="1051560"/>
            <a:ext cx="1005840" cy="365760"/>
          </a:xfrm>
          <a:prstGeom prst="rect">
            <a:avLst/>
          </a:prstGeom>
          <a:solidFill>
            <a:srgbClr val="2D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078992"/>
            <a:ext cx="640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eiryo UI"/>
              </a:rPr>
              <a:t>バージョン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078992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eiryo UI"/>
              </a:rPr>
              <a:t>テーマ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1078992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eiryo UI"/>
              </a:rPr>
              <a:t>評価方式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078992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eiryo UI"/>
              </a:rPr>
              <a:t>質問例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1078992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eiryo UI"/>
              </a:rPr>
              <a:t>結果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417320"/>
            <a:ext cx="640080" cy="457200"/>
          </a:xfrm>
          <a:prstGeom prst="rect">
            <a:avLst/>
          </a:prstGeom>
          <a:solidFill>
            <a:srgbClr val="B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188720" y="1417320"/>
            <a:ext cx="1371600" cy="457200"/>
          </a:xfrm>
          <a:prstGeom prst="rect">
            <a:avLst/>
          </a:prstGeom>
          <a:solidFill>
            <a:srgbClr val="B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560320" y="1417320"/>
            <a:ext cx="914400" cy="457200"/>
          </a:xfrm>
          <a:prstGeom prst="rect">
            <a:avLst/>
          </a:prstGeom>
          <a:solidFill>
            <a:srgbClr val="B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474720" y="1417320"/>
            <a:ext cx="4114800" cy="457200"/>
          </a:xfrm>
          <a:prstGeom prst="rect">
            <a:avLst/>
          </a:prstGeom>
          <a:solidFill>
            <a:srgbClr val="B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589520" y="1417320"/>
            <a:ext cx="1005840" cy="457200"/>
          </a:xfrm>
          <a:prstGeom prst="rect">
            <a:avLst/>
          </a:prstGeom>
          <a:solidFill>
            <a:srgbClr val="B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153619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2D2D8A"/>
                </a:solidFill>
                <a:latin typeface="Meiryo UI"/>
              </a:rPr>
              <a:t>v1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1536192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</a:rPr>
              <a:t>汎用質問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153619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eiryo UI"/>
              </a:rPr>
              <a:t>主観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1536192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「Constitutional AIとは何ですか？」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53619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D2D8A"/>
                </a:solidFill>
                <a:latin typeface="Meiryo UI"/>
              </a:rPr>
              <a:t>曖昧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1874519"/>
            <a:ext cx="640080" cy="457200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88720" y="1874519"/>
            <a:ext cx="1371600" cy="457200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560320" y="1874519"/>
            <a:ext cx="914400" cy="457200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474720" y="1874519"/>
            <a:ext cx="4114800" cy="457200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589520" y="1874519"/>
            <a:ext cx="1005840" cy="457200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8640" y="1993391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2D2D8A"/>
                </a:solidFill>
                <a:latin typeface="Meiryo UI"/>
              </a:rPr>
              <a:t>v2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1993391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</a:rPr>
              <a:t>翻訳実験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1993391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eiryo UI"/>
              </a:rPr>
              <a:t>主観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1993391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（v1と同じ質問・クエリ翻訳実験）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1993391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D2D8A"/>
                </a:solidFill>
                <a:latin typeface="Meiryo UI"/>
              </a:rPr>
              <a:t>悪化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2331720"/>
            <a:ext cx="640080" cy="457200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188720" y="2331720"/>
            <a:ext cx="1371600" cy="457200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2560320" y="2331720"/>
            <a:ext cx="914400" cy="457200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474720" y="2331720"/>
            <a:ext cx="4114800" cy="457200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589520" y="2331720"/>
            <a:ext cx="1005840" cy="457200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8640" y="2450591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2D2D8A"/>
                </a:solidFill>
                <a:latin typeface="Meiryo UI"/>
              </a:rPr>
              <a:t>v3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80160" y="2450591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</a:rPr>
              <a:t>フィルタ実験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60320" y="2450591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eiryo UI"/>
              </a:rPr>
              <a:t>主観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0" y="2450591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（v1と同じ質問・距離フィルタ追加）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89520" y="2450591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D2D8A"/>
                </a:solidFill>
                <a:latin typeface="Meiryo UI"/>
              </a:rPr>
              <a:t>改善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2788920"/>
            <a:ext cx="640080" cy="457200"/>
          </a:xfrm>
          <a:prstGeom prst="rect">
            <a:avLst/>
          </a:prstGeom>
          <a:solidFill>
            <a:srgbClr val="B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1188720" y="2788920"/>
            <a:ext cx="1371600" cy="457200"/>
          </a:xfrm>
          <a:prstGeom prst="rect">
            <a:avLst/>
          </a:prstGeom>
          <a:solidFill>
            <a:srgbClr val="B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2560320" y="2788920"/>
            <a:ext cx="914400" cy="457200"/>
          </a:xfrm>
          <a:prstGeom prst="rect">
            <a:avLst/>
          </a:prstGeom>
          <a:solidFill>
            <a:srgbClr val="B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3474720" y="2788920"/>
            <a:ext cx="4114800" cy="457200"/>
          </a:xfrm>
          <a:prstGeom prst="rect">
            <a:avLst/>
          </a:prstGeom>
          <a:solidFill>
            <a:srgbClr val="B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7589520" y="2788920"/>
            <a:ext cx="1005840" cy="457200"/>
          </a:xfrm>
          <a:prstGeom prst="rect">
            <a:avLst/>
          </a:prstGeom>
          <a:solidFill>
            <a:srgbClr val="B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48640" y="2907791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2D2D8A"/>
                </a:solidFill>
                <a:latin typeface="Meiryo UI"/>
              </a:rPr>
              <a:t>v4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80160" y="2907791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</a:rPr>
              <a:t>事実抽出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60320" y="2907791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eiryo UI"/>
              </a:rPr>
              <a:t>客観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66160" y="2907791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「Haiku 4.5の入力料金は？」 → $1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89520" y="2907791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D2D8A"/>
                </a:solidFill>
                <a:latin typeface="Meiryo UI"/>
              </a:rPr>
              <a:t>高得点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3246120"/>
            <a:ext cx="640080" cy="457200"/>
          </a:xfrm>
          <a:prstGeom prst="rect">
            <a:avLst/>
          </a:prstGeom>
          <a:solidFill>
            <a:srgbClr val="B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1188720" y="3246120"/>
            <a:ext cx="1371600" cy="457200"/>
          </a:xfrm>
          <a:prstGeom prst="rect">
            <a:avLst/>
          </a:prstGeom>
          <a:solidFill>
            <a:srgbClr val="B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2560320" y="3246120"/>
            <a:ext cx="914400" cy="457200"/>
          </a:xfrm>
          <a:prstGeom prst="rect">
            <a:avLst/>
          </a:prstGeom>
          <a:solidFill>
            <a:srgbClr val="B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3474720" y="3246120"/>
            <a:ext cx="4114800" cy="457200"/>
          </a:xfrm>
          <a:prstGeom prst="rect">
            <a:avLst/>
          </a:prstGeom>
          <a:solidFill>
            <a:srgbClr val="B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589520" y="3246120"/>
            <a:ext cx="1005840" cy="457200"/>
          </a:xfrm>
          <a:prstGeom prst="rect">
            <a:avLst/>
          </a:prstGeom>
          <a:solidFill>
            <a:srgbClr val="B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48640" y="3364991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2D2D8A"/>
                </a:solidFill>
                <a:latin typeface="Meiryo UI"/>
              </a:rPr>
              <a:t>v5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80160" y="3364991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</a:rPr>
              <a:t>マルチソース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60320" y="3364991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eiryo UI"/>
              </a:rPr>
              <a:t>客観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66160" y="3364991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「100ページPDFをBatchで処理した料金は？」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364991"/>
            <a:ext cx="10058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ja-JP" altLang="en-US" sz="1000" b="1">
                <a:solidFill>
                  <a:srgbClr val="2D2D8A"/>
                </a:solidFill>
                <a:latin typeface="Meiryo UI"/>
              </a:rPr>
              <a:t>満点</a:t>
            </a:r>
            <a:endParaRPr sz="1000" b="1" dirty="0">
              <a:solidFill>
                <a:srgbClr val="2D2D8A"/>
              </a:solidFill>
              <a:latin typeface="Meiryo UI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548640" y="3703320"/>
            <a:ext cx="640080" cy="457200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1188720" y="3703320"/>
            <a:ext cx="1371600" cy="457200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2560320" y="3703320"/>
            <a:ext cx="914400" cy="457200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3474720" y="3703320"/>
            <a:ext cx="4114800" cy="457200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7589520" y="3703320"/>
            <a:ext cx="1005840" cy="457200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48640" y="3822191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2D2D8A"/>
                </a:solidFill>
                <a:latin typeface="Meiryo UI"/>
              </a:rPr>
              <a:t>v6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80160" y="3822191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</a:rPr>
              <a:t>RAG弱点特化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60320" y="3822191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Meiryo UI"/>
              </a:rPr>
              <a:t>客観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66160" y="3822191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「適応思考: いいえのモデルは何個？」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89520" y="3822191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D2D8A"/>
                </a:solidFill>
                <a:latin typeface="Meiryo UI"/>
              </a:rPr>
              <a:t>失敗発生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43434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9999"/>
                </a:solidFill>
                <a:latin typeface="Meiryo UI"/>
              </a:rPr>
              <a:t>気づき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0" y="4572000"/>
            <a:ext cx="8229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000000"/>
                </a:solidFill>
                <a:latin typeface="Meiryo UI"/>
              </a:rPr>
              <a:t>v5で天井（100%）に達した後、RAGの弱点を意図的に突くv6を作成。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5760" y="489204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Meiryo UI"/>
              </a:rPr>
              <a:t>RAG vs NotebookLM 比較実験レポート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46720" y="489204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eiryo U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20040"/>
            <a:ext cx="73152" cy="41148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D2D8A"/>
                </a:solidFill>
                <a:latin typeface="Meiryo UI"/>
              </a:rPr>
              <a:t>6. スコア推移（v1 → v7）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841248"/>
            <a:ext cx="8412480" cy="0"/>
          </a:xfrm>
          <a:prstGeom prst="line">
            <a:avLst/>
          </a:prstGeom>
          <a:ln w="1905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914400" y="1280160"/>
            <a:ext cx="731520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79" y="393192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808080"/>
                </a:solidFill>
                <a:latin typeface="Meiryo UI"/>
              </a:rPr>
              <a:t>0%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4023360"/>
            <a:ext cx="7315200" cy="0"/>
          </a:xfrm>
          <a:prstGeom prst="line">
            <a:avLst/>
          </a:prstGeom>
          <a:ln w="6350">
            <a:solidFill>
              <a:srgbClr val="F0F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11479" y="324612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808080"/>
                </a:solidFill>
                <a:latin typeface="Meiryo UI"/>
              </a:rPr>
              <a:t>25%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3337560"/>
            <a:ext cx="7315200" cy="0"/>
          </a:xfrm>
          <a:prstGeom prst="line">
            <a:avLst/>
          </a:prstGeom>
          <a:ln w="6350">
            <a:solidFill>
              <a:srgbClr val="F0F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11479" y="2560320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808080"/>
                </a:solidFill>
                <a:latin typeface="Meiryo UI"/>
              </a:rPr>
              <a:t>50%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2651760"/>
            <a:ext cx="7315200" cy="0"/>
          </a:xfrm>
          <a:prstGeom prst="line">
            <a:avLst/>
          </a:prstGeom>
          <a:ln w="6350">
            <a:solidFill>
              <a:srgbClr val="F0F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11479" y="1874519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808080"/>
                </a:solidFill>
                <a:latin typeface="Meiryo UI"/>
              </a:rPr>
              <a:t>75%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14400" y="1965960"/>
            <a:ext cx="7315200" cy="0"/>
          </a:xfrm>
          <a:prstGeom prst="line">
            <a:avLst/>
          </a:prstGeom>
          <a:ln w="6350">
            <a:solidFill>
              <a:srgbClr val="F0F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79" y="1188719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808080"/>
                </a:solidFill>
                <a:latin typeface="Meiryo UI"/>
              </a:rPr>
              <a:t>100%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1280160"/>
            <a:ext cx="7315200" cy="0"/>
          </a:xfrm>
          <a:prstGeom prst="line">
            <a:avLst/>
          </a:prstGeom>
          <a:ln w="6350">
            <a:solidFill>
              <a:srgbClr val="F0F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371600" y="1719072"/>
            <a:ext cx="502920" cy="2304288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80160" y="1490472"/>
            <a:ext cx="685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84%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069080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D2D8A"/>
                </a:solidFill>
                <a:latin typeface="Meiryo UI"/>
              </a:rPr>
              <a:t>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251960"/>
            <a:ext cx="1051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ja-JP" altLang="en-US" sz="800">
                <a:solidFill>
                  <a:srgbClr val="404040"/>
                </a:solidFill>
                <a:latin typeface="Meiryo UI"/>
              </a:rPr>
              <a:t>基準</a:t>
            </a:r>
            <a:endParaRPr sz="800" b="0" dirty="0">
              <a:solidFill>
                <a:srgbClr val="404040"/>
              </a:solidFill>
              <a:latin typeface="Meiryo U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286000" y="1883664"/>
            <a:ext cx="502920" cy="2139696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194560" y="1655064"/>
            <a:ext cx="685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78%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4069080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D2D8A"/>
                </a:solidFill>
                <a:latin typeface="Meiryo UI"/>
              </a:rPr>
              <a:t>v2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4251960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>
                <a:solidFill>
                  <a:srgbClr val="404040"/>
                </a:solidFill>
                <a:latin typeface="Meiryo UI"/>
              </a:rPr>
              <a:t>翻訳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1609344"/>
            <a:ext cx="502920" cy="2414016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108960" y="1380744"/>
            <a:ext cx="685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88%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4069080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D2D8A"/>
                </a:solidFill>
                <a:latin typeface="Meiryo UI"/>
              </a:rPr>
              <a:t>v3a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4251960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>
                <a:solidFill>
                  <a:srgbClr val="404040"/>
                </a:solidFill>
                <a:latin typeface="Meiryo UI"/>
              </a:rPr>
              <a:t>フィルタ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1444752"/>
            <a:ext cx="502920" cy="2578608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023360" y="1216152"/>
            <a:ext cx="685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94%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4069080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D2D8A"/>
                </a:solidFill>
                <a:latin typeface="Meiryo UI"/>
              </a:rPr>
              <a:t>v4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251960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>
                <a:solidFill>
                  <a:srgbClr val="404040"/>
                </a:solidFill>
                <a:latin typeface="Meiryo UI"/>
              </a:rPr>
              <a:t>事実抽出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0" y="1280160"/>
            <a:ext cx="502920" cy="274320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37760" y="1051560"/>
            <a:ext cx="685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100%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4069080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D2D8A"/>
                </a:solidFill>
                <a:latin typeface="Meiryo UI"/>
              </a:rPr>
              <a:t>v5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4251960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>
                <a:solidFill>
                  <a:srgbClr val="404040"/>
                </a:solidFill>
                <a:latin typeface="Meiryo UI"/>
              </a:rPr>
              <a:t>マルチ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1828800"/>
            <a:ext cx="502920" cy="2194560"/>
          </a:xfrm>
          <a:prstGeom prst="rect">
            <a:avLst/>
          </a:prstGeom>
          <a:solidFill>
            <a:srgbClr val="E68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852160" y="1600200"/>
            <a:ext cx="685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80%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60720" y="4069080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D2D8A"/>
                </a:solidFill>
                <a:latin typeface="Meiryo UI"/>
              </a:rPr>
              <a:t>v6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0" y="4251960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>
                <a:solidFill>
                  <a:srgbClr val="404040"/>
                </a:solidFill>
                <a:latin typeface="Meiryo UI"/>
              </a:rPr>
              <a:t>弱点特化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0" y="1554480"/>
            <a:ext cx="502920" cy="2468880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766560" y="1325880"/>
            <a:ext cx="685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90%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4069080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2D2D8A"/>
                </a:solidFill>
                <a:latin typeface="Meiryo UI"/>
              </a:rPr>
              <a:t>v7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4251960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>
                <a:solidFill>
                  <a:srgbClr val="404040"/>
                </a:solidFill>
                <a:latin typeface="Meiryo UI"/>
              </a:rPr>
              <a:t>表認識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14400" y="1280160"/>
            <a:ext cx="7315200" cy="0"/>
          </a:xfrm>
          <a:prstGeom prst="line">
            <a:avLst/>
          </a:prstGeom>
          <a:ln w="25400">
            <a:solidFill>
              <a:srgbClr val="333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583680" y="1115568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1">
                <a:solidFill>
                  <a:srgbClr val="333399"/>
                </a:solidFill>
                <a:latin typeface="Meiryo UI"/>
              </a:rPr>
              <a:t>NotebookLM (100%)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2976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9999"/>
                </a:solidFill>
                <a:latin typeface="Meiryo UI"/>
              </a:rPr>
              <a:t>観察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52628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</a:rPr>
              <a:t>v6でRAGの弱点が露呈（80%）→ v7で表認識チャンキングを実装し90%まで改善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489204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Meiryo UI"/>
              </a:rPr>
              <a:t>RAG vs NotebookLM 比較実験レポート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0" y="489204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eiryo U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20040"/>
            <a:ext cx="73152" cy="41148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D2D8A"/>
                </a:solidFill>
                <a:latin typeface="Meiryo UI"/>
              </a:rPr>
              <a:t>7. v6: RAGの弱点を突いた10問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841248"/>
            <a:ext cx="8412480" cy="0"/>
          </a:xfrm>
          <a:prstGeom prst="line">
            <a:avLst/>
          </a:prstGeom>
          <a:ln w="1905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9601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404040"/>
                </a:solidFill>
                <a:latin typeface="Meiryo UI"/>
              </a:rPr>
              <a:t>RAGの構造的弱点（チャンク分割によって失われる情報）を意図的にテスト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457200" cy="292608"/>
          </a:xfrm>
          <a:prstGeom prst="rect">
            <a:avLst/>
          </a:prstGeom>
          <a:solidFill>
            <a:srgbClr val="2D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05840" y="1417320"/>
            <a:ext cx="1828800" cy="292608"/>
          </a:xfrm>
          <a:prstGeom prst="rect">
            <a:avLst/>
          </a:prstGeom>
          <a:solidFill>
            <a:srgbClr val="2D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834640" y="1417320"/>
            <a:ext cx="4114800" cy="292608"/>
          </a:xfrm>
          <a:prstGeom prst="rect">
            <a:avLst/>
          </a:prstGeom>
          <a:solidFill>
            <a:srgbClr val="2D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949440" y="1417320"/>
            <a:ext cx="1645920" cy="292608"/>
          </a:xfrm>
          <a:prstGeom prst="rect">
            <a:avLst/>
          </a:prstGeom>
          <a:solidFill>
            <a:srgbClr val="2D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46304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iryo UI"/>
              </a:rPr>
              <a:t>#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iryo UI"/>
              </a:rPr>
              <a:t>RAG弱点カテゴリ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463040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iryo UI"/>
              </a:rPr>
              <a:t>質問内容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146304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iryo UI"/>
              </a:rPr>
              <a:t>正解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709928"/>
            <a:ext cx="4572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005840" y="1709928"/>
            <a:ext cx="18288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834640" y="1709928"/>
            <a:ext cx="41148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949440" y="1709928"/>
            <a:ext cx="164592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1764792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Q1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1764792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  <a:latin typeface="Meiryo UI"/>
              </a:rPr>
              <a:t>否定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1764792"/>
            <a:ext cx="40233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ja-JP" altLang="en-US" sz="8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最新３モデルで１</a:t>
            </a:r>
            <a:r>
              <a:rPr lang="en-US" altLang="ja-JP" sz="800" dirty="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M</a:t>
            </a:r>
            <a:r>
              <a:rPr lang="ja-JP" altLang="en-US" sz="800">
                <a:solidFill>
                  <a:srgbClr val="00000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トークン非対応はどれ？</a:t>
            </a:r>
            <a:endParaRPr sz="800" b="0" dirty="0">
              <a:solidFill>
                <a:srgbClr val="00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949440" y="1764792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>
                <a:solidFill>
                  <a:srgbClr val="2D2D8A"/>
                </a:solidFill>
                <a:latin typeface="Meiryo UI"/>
              </a:rPr>
              <a:t>Claude Haiku 4.5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002536"/>
            <a:ext cx="457200" cy="29260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05840" y="2002536"/>
            <a:ext cx="1828800" cy="29260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834640" y="2002536"/>
            <a:ext cx="4114800" cy="29260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949440" y="2002536"/>
            <a:ext cx="1645920" cy="29260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20574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Q2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2057400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  <a:latin typeface="Meiryo UI"/>
              </a:rPr>
              <a:t>カウント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2057400"/>
            <a:ext cx="40233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dirty="0">
                <a:solidFill>
                  <a:srgbClr val="000000"/>
                </a:solidFill>
                <a:latin typeface="Meiryo UI"/>
              </a:rPr>
              <a:t>「</a:t>
            </a:r>
            <a:r>
              <a:rPr sz="800" b="0" dirty="0" err="1">
                <a:solidFill>
                  <a:srgbClr val="000000"/>
                </a:solidFill>
                <a:latin typeface="Meiryo UI"/>
              </a:rPr>
              <a:t>適応思考</a:t>
            </a:r>
            <a:r>
              <a:rPr sz="800" b="0" dirty="0">
                <a:solidFill>
                  <a:srgbClr val="000000"/>
                </a:solidFill>
                <a:latin typeface="Meiryo UI"/>
              </a:rPr>
              <a:t>: </a:t>
            </a:r>
            <a:r>
              <a:rPr sz="800" b="0" dirty="0" err="1">
                <a:solidFill>
                  <a:srgbClr val="000000"/>
                </a:solidFill>
                <a:latin typeface="Meiryo UI"/>
              </a:rPr>
              <a:t>いいえ」のモデル数</a:t>
            </a:r>
            <a:r>
              <a:rPr lang="ja-JP" altLang="en-US" sz="800" b="0">
                <a:solidFill>
                  <a:srgbClr val="000000"/>
                </a:solidFill>
                <a:latin typeface="Meiryo UI"/>
              </a:rPr>
              <a:t>は？</a:t>
            </a:r>
            <a:endParaRPr sz="800" b="0" dirty="0">
              <a:solidFill>
                <a:srgbClr val="000000"/>
              </a:solidFill>
              <a:latin typeface="Meiryo U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949440" y="205740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>
                <a:solidFill>
                  <a:srgbClr val="2D2D8A"/>
                </a:solidFill>
                <a:latin typeface="Meiryo UI"/>
              </a:rPr>
              <a:t>2個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2295144"/>
            <a:ext cx="4572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005840" y="2295144"/>
            <a:ext cx="18288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834640" y="2295144"/>
            <a:ext cx="41148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949440" y="2295144"/>
            <a:ext cx="164592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50008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Q3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2350008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  <a:latin typeface="Meiryo UI"/>
              </a:rPr>
              <a:t>紛らわしい命名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0" y="2350008"/>
            <a:ext cx="40233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dirty="0">
                <a:solidFill>
                  <a:srgbClr val="000000"/>
                </a:solidFill>
                <a:latin typeface="Meiryo UI"/>
              </a:rPr>
              <a:t>Claude 3 </a:t>
            </a:r>
            <a:r>
              <a:rPr sz="800" b="0" dirty="0" err="1">
                <a:solidFill>
                  <a:srgbClr val="000000"/>
                </a:solidFill>
                <a:latin typeface="Meiryo UI"/>
              </a:rPr>
              <a:t>Haikuの入力料金</a:t>
            </a:r>
            <a:r>
              <a:rPr lang="ja-JP" altLang="en-US" sz="800" b="0">
                <a:solidFill>
                  <a:srgbClr val="000000"/>
                </a:solidFill>
                <a:latin typeface="Meiryo UI"/>
              </a:rPr>
              <a:t>は？</a:t>
            </a:r>
            <a:endParaRPr sz="800" b="0" dirty="0">
              <a:solidFill>
                <a:srgbClr val="000000"/>
              </a:solidFill>
              <a:latin typeface="Meiryo UI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949440" y="2350008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>
                <a:solidFill>
                  <a:srgbClr val="2D2D8A"/>
                </a:solidFill>
                <a:latin typeface="Meiryo UI"/>
              </a:rPr>
              <a:t>$0.25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2587751"/>
            <a:ext cx="4572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005840" y="2587751"/>
            <a:ext cx="18288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834640" y="2587751"/>
            <a:ext cx="41148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949440" y="2587751"/>
            <a:ext cx="164592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48640" y="2642615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Q4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2642615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  <a:latin typeface="Meiryo UI"/>
              </a:rPr>
              <a:t>順位付け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26080" y="2642615"/>
            <a:ext cx="40233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dirty="0" err="1">
                <a:solidFill>
                  <a:srgbClr val="000000"/>
                </a:solidFill>
                <a:latin typeface="Meiryo UI"/>
              </a:rPr>
              <a:t>最安の出力料金モデル</a:t>
            </a:r>
            <a:r>
              <a:rPr lang="ja-JP" altLang="en-US" sz="800" b="0">
                <a:solidFill>
                  <a:srgbClr val="000000"/>
                </a:solidFill>
                <a:latin typeface="Meiryo UI"/>
              </a:rPr>
              <a:t>は？</a:t>
            </a:r>
            <a:endParaRPr sz="800" b="0" dirty="0">
              <a:solidFill>
                <a:srgbClr val="000000"/>
              </a:solidFill>
              <a:latin typeface="Meiryo U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949440" y="2642615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>
                <a:solidFill>
                  <a:srgbClr val="2D2D8A"/>
                </a:solidFill>
                <a:latin typeface="Meiryo UI"/>
              </a:rPr>
              <a:t>Claude Haiku 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2880359"/>
            <a:ext cx="4572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1005840" y="2880359"/>
            <a:ext cx="18288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2834640" y="2880359"/>
            <a:ext cx="41148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949440" y="2880359"/>
            <a:ext cx="164592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48640" y="2935223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Q5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" y="2935223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  <a:latin typeface="Meiryo UI"/>
              </a:rPr>
              <a:t>記載なし推論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26080" y="2935223"/>
            <a:ext cx="40233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dirty="0" err="1">
                <a:solidFill>
                  <a:srgbClr val="000000"/>
                </a:solidFill>
                <a:latin typeface="Meiryo UI"/>
              </a:rPr>
              <a:t>リストにOpus</a:t>
            </a:r>
            <a:r>
              <a:rPr sz="800" b="0" dirty="0">
                <a:solidFill>
                  <a:srgbClr val="000000"/>
                </a:solidFill>
                <a:latin typeface="Meiryo UI"/>
              </a:rPr>
              <a:t> 3はあるか</a:t>
            </a:r>
            <a:r>
              <a:rPr lang="ja-JP" altLang="en-US" sz="800" b="0">
                <a:solidFill>
                  <a:srgbClr val="000000"/>
                </a:solidFill>
                <a:latin typeface="Meiryo UI"/>
              </a:rPr>
              <a:t>？</a:t>
            </a:r>
            <a:endParaRPr sz="800" b="0" dirty="0">
              <a:solidFill>
                <a:srgbClr val="000000"/>
              </a:solidFill>
              <a:latin typeface="Meiryo UI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949440" y="2935223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>
                <a:solidFill>
                  <a:srgbClr val="2D2D8A"/>
                </a:solidFill>
                <a:latin typeface="Meiryo UI"/>
              </a:rPr>
              <a:t>いいえ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3172967"/>
            <a:ext cx="457200" cy="29260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1005840" y="3172967"/>
            <a:ext cx="1828800" cy="29260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2834640" y="3172967"/>
            <a:ext cx="4114800" cy="29260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949440" y="3172967"/>
            <a:ext cx="1645920" cy="29260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48640" y="3227831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Q6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7280" y="3227831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  <a:latin typeface="Meiryo UI"/>
              </a:rPr>
              <a:t>複数セル算術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26080" y="3227831"/>
            <a:ext cx="40233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419" sz="800" dirty="0">
                <a:solidFill>
                  <a:srgbClr val="000000"/>
                </a:solidFill>
                <a:latin typeface="Meiryo UI"/>
              </a:rPr>
              <a:t>Sonnet 4.5</a:t>
            </a:r>
            <a:r>
              <a:rPr lang="ja-JP" altLang="en-US" sz="800">
                <a:solidFill>
                  <a:srgbClr val="000000"/>
                </a:solidFill>
                <a:latin typeface="Meiryo UI"/>
              </a:rPr>
              <a:t>と</a:t>
            </a:r>
            <a:r>
              <a:rPr lang="es-419" sz="800" dirty="0">
                <a:solidFill>
                  <a:srgbClr val="000000"/>
                </a:solidFill>
                <a:latin typeface="Meiryo UI"/>
              </a:rPr>
              <a:t>Haiku 4.5</a:t>
            </a:r>
            <a:r>
              <a:rPr lang="ja-JP" altLang="en-US" sz="800">
                <a:solidFill>
                  <a:srgbClr val="000000"/>
                </a:solidFill>
                <a:latin typeface="Meiryo UI"/>
              </a:rPr>
              <a:t>の</a:t>
            </a:r>
            <a:r>
              <a:rPr sz="800" b="0" dirty="0">
                <a:solidFill>
                  <a:srgbClr val="000000"/>
                </a:solidFill>
                <a:latin typeface="Meiryo UI"/>
              </a:rPr>
              <a:t>1hキャッシュ料金の差額</a:t>
            </a:r>
            <a:r>
              <a:rPr lang="ja-JP" altLang="en-US" sz="800" b="0">
                <a:solidFill>
                  <a:srgbClr val="000000"/>
                </a:solidFill>
                <a:latin typeface="Meiryo UI"/>
              </a:rPr>
              <a:t>は？</a:t>
            </a:r>
            <a:endParaRPr sz="800" b="0" dirty="0">
              <a:solidFill>
                <a:srgbClr val="000000"/>
              </a:solidFill>
              <a:latin typeface="Meiryo UI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949440" y="3227831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>
                <a:solidFill>
                  <a:srgbClr val="2D2D8A"/>
                </a:solidFill>
                <a:latin typeface="Meiryo UI"/>
              </a:rPr>
              <a:t>$4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8640" y="3465575"/>
            <a:ext cx="4572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1005840" y="3465575"/>
            <a:ext cx="18288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2834640" y="3465575"/>
            <a:ext cx="41148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6949440" y="3465575"/>
            <a:ext cx="164592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48640" y="3520439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Q7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7280" y="3520439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  <a:latin typeface="Meiryo UI"/>
              </a:rPr>
              <a:t>バージョン混同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26080" y="3520439"/>
            <a:ext cx="40233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dirty="0" err="1">
                <a:solidFill>
                  <a:srgbClr val="000000"/>
                </a:solidFill>
                <a:latin typeface="Meiryo UI"/>
              </a:rPr>
              <a:t>JSON出力の最新パラメータ名</a:t>
            </a:r>
            <a:r>
              <a:rPr lang="ja-JP" altLang="en-US" sz="800" b="0">
                <a:solidFill>
                  <a:srgbClr val="000000"/>
                </a:solidFill>
                <a:latin typeface="Meiryo UI"/>
              </a:rPr>
              <a:t>は？</a:t>
            </a:r>
            <a:endParaRPr sz="800" b="0" dirty="0">
              <a:solidFill>
                <a:srgbClr val="000000"/>
              </a:solidFill>
              <a:latin typeface="Meiryo UI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6949440" y="3520439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>
                <a:solidFill>
                  <a:srgbClr val="2D2D8A"/>
                </a:solidFill>
                <a:latin typeface="Meiryo UI"/>
              </a:rPr>
              <a:t>output_config.format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" y="3758183"/>
            <a:ext cx="4572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1005840" y="3758183"/>
            <a:ext cx="18288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2834640" y="3758183"/>
            <a:ext cx="41148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3" name="Rectangle 72"/>
          <p:cNvSpPr/>
          <p:nvPr/>
        </p:nvSpPr>
        <p:spPr>
          <a:xfrm>
            <a:off x="6949440" y="3758183"/>
            <a:ext cx="164592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48640" y="3813047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Q8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7280" y="3813047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  <a:latin typeface="Meiryo UI"/>
              </a:rPr>
              <a:t>比率・乗数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26080" y="3813047"/>
            <a:ext cx="40233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dirty="0">
                <a:solidFill>
                  <a:srgbClr val="000000"/>
                </a:solidFill>
                <a:latin typeface="Meiryo UI"/>
              </a:rPr>
              <a:t>5分キャッシュは標準の何倍</a:t>
            </a:r>
            <a:r>
              <a:rPr lang="ja-JP" altLang="en-US" sz="800" b="0">
                <a:solidFill>
                  <a:srgbClr val="000000"/>
                </a:solidFill>
                <a:latin typeface="Meiryo UI"/>
              </a:rPr>
              <a:t>は？</a:t>
            </a:r>
            <a:endParaRPr sz="800" b="0" dirty="0">
              <a:solidFill>
                <a:srgbClr val="000000"/>
              </a:solidFill>
              <a:latin typeface="Meiryo UI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6949440" y="3813047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>
                <a:solidFill>
                  <a:srgbClr val="2D2D8A"/>
                </a:solidFill>
                <a:latin typeface="Meiryo UI"/>
              </a:rPr>
              <a:t>1.25倍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8640" y="4050791"/>
            <a:ext cx="4572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1005840" y="4050791"/>
            <a:ext cx="18288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2834640" y="4050791"/>
            <a:ext cx="41148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6949440" y="4050791"/>
            <a:ext cx="164592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48640" y="4105655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Q9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7280" y="4105655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  <a:latin typeface="Meiryo UI"/>
              </a:rPr>
              <a:t>暗黙の制約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926080" y="4105655"/>
            <a:ext cx="4023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  <a:latin typeface="Meiryo UI"/>
              </a:rPr>
              <a:t>200ページPDFは処理可能？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49440" y="4105655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>
                <a:solidFill>
                  <a:srgbClr val="2D2D8A"/>
                </a:solidFill>
                <a:latin typeface="Meiryo UI"/>
              </a:rPr>
              <a:t>いいえ（100上限）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4343400"/>
            <a:ext cx="4572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1005840" y="4343400"/>
            <a:ext cx="18288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2834640" y="4343400"/>
            <a:ext cx="411480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6949440" y="4343400"/>
            <a:ext cx="1645920" cy="29260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548640" y="4398264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Q10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7280" y="4398264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000000"/>
                </a:solidFill>
                <a:latin typeface="Meiryo UI"/>
              </a:rPr>
              <a:t>非推奨判定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26080" y="4398264"/>
            <a:ext cx="40233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dirty="0">
                <a:solidFill>
                  <a:srgbClr val="000000"/>
                </a:solidFill>
                <a:latin typeface="Meiryo UI"/>
              </a:rPr>
              <a:t>Opus 4.6で非推奨のtype値</a:t>
            </a:r>
            <a:r>
              <a:rPr lang="ja-JP" altLang="en-US" sz="800" b="0">
                <a:solidFill>
                  <a:srgbClr val="000000"/>
                </a:solidFill>
                <a:latin typeface="Meiryo UI"/>
              </a:rPr>
              <a:t>は？</a:t>
            </a:r>
            <a:endParaRPr sz="800" b="0" dirty="0">
              <a:solidFill>
                <a:srgbClr val="000000"/>
              </a:solidFill>
              <a:latin typeface="Meiryo UI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6949440" y="4398264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>
                <a:solidFill>
                  <a:srgbClr val="2D2D8A"/>
                </a:solidFill>
                <a:latin typeface="Meiryo UI"/>
              </a:rPr>
              <a:t>"enabled"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1225483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>
                <a:solidFill>
                  <a:srgbClr val="E68000"/>
                </a:solidFill>
                <a:latin typeface="Meiryo UI"/>
              </a:rPr>
              <a:t>黄緑のQ2・Q6でRAGが失敗（NotebookLMは正解）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489204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Meiryo UI"/>
              </a:rPr>
              <a:t>RAG vs NotebookLM 比較実験レポート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46720" y="489204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eiryo U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20040"/>
            <a:ext cx="73152" cy="41148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2D2D8A"/>
                </a:solidFill>
                <a:latin typeface="Meiryo UI"/>
              </a:rPr>
              <a:t>8. v</a:t>
            </a:r>
            <a:r>
              <a:rPr lang="en-US" altLang="ja-JP" sz="2200" b="1" dirty="0">
                <a:solidFill>
                  <a:srgbClr val="2D2D8A"/>
                </a:solidFill>
                <a:latin typeface="Meiryo UI"/>
              </a:rPr>
              <a:t>6</a:t>
            </a:r>
            <a:r>
              <a:rPr sz="2200" b="1" dirty="0">
                <a:solidFill>
                  <a:srgbClr val="2D2D8A"/>
                </a:solidFill>
                <a:latin typeface="Meiryo UI"/>
              </a:rPr>
              <a:t> </a:t>
            </a:r>
            <a:r>
              <a:rPr sz="2200" b="1" dirty="0" err="1">
                <a:solidFill>
                  <a:srgbClr val="2D2D8A"/>
                </a:solidFill>
                <a:latin typeface="Meiryo UI"/>
              </a:rPr>
              <a:t>結果</a:t>
            </a:r>
            <a:r>
              <a:rPr sz="2200" b="1" dirty="0">
                <a:solidFill>
                  <a:srgbClr val="2D2D8A"/>
                </a:solidFill>
                <a:latin typeface="Meiryo UI"/>
              </a:rPr>
              <a:t>: RAG vs </a:t>
            </a:r>
            <a:r>
              <a:rPr sz="2200" b="1" dirty="0" err="1">
                <a:solidFill>
                  <a:srgbClr val="2D2D8A"/>
                </a:solidFill>
                <a:latin typeface="Meiryo UI"/>
              </a:rPr>
              <a:t>NotebookLM</a:t>
            </a:r>
            <a:r>
              <a:rPr sz="2200" b="1" dirty="0">
                <a:solidFill>
                  <a:srgbClr val="2D2D8A"/>
                </a:solidFill>
                <a:latin typeface="Meiryo UI"/>
              </a:rPr>
              <a:t> </a:t>
            </a:r>
            <a:r>
              <a:rPr sz="2200" b="1" dirty="0" err="1">
                <a:solidFill>
                  <a:srgbClr val="2D2D8A"/>
                </a:solidFill>
                <a:latin typeface="Meiryo UI"/>
              </a:rPr>
              <a:t>直接比較</a:t>
            </a:r>
            <a:endParaRPr sz="2200" b="1" dirty="0">
              <a:solidFill>
                <a:srgbClr val="2D2D8A"/>
              </a:solidFill>
              <a:latin typeface="Meiryo UI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365760" y="841248"/>
            <a:ext cx="8412480" cy="0"/>
          </a:xfrm>
          <a:prstGeom prst="line">
            <a:avLst/>
          </a:prstGeom>
          <a:ln w="1905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731520" y="1097280"/>
            <a:ext cx="3657600" cy="2011680"/>
          </a:xfrm>
          <a:prstGeom prst="roundRect">
            <a:avLst>
              <a:gd name="adj" fmla="val 10000"/>
            </a:avLst>
          </a:prstGeom>
          <a:solidFill>
            <a:srgbClr val="BBE0E3"/>
          </a:solidFill>
          <a:ln w="15240">
            <a:solidFill>
              <a:srgbClr val="2D2D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18872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 err="1">
                <a:solidFill>
                  <a:srgbClr val="2D2D8A"/>
                </a:solidFill>
                <a:latin typeface="Meiryo UI"/>
              </a:rPr>
              <a:t>自作</a:t>
            </a:r>
            <a:r>
              <a:rPr sz="1400" b="1" dirty="0">
                <a:solidFill>
                  <a:srgbClr val="2D2D8A"/>
                </a:solidFill>
                <a:latin typeface="Meiryo UI"/>
              </a:rPr>
              <a:t> RAG (v</a:t>
            </a:r>
            <a:r>
              <a:rPr lang="en-US" altLang="ja-JP" sz="1400" b="1" dirty="0">
                <a:solidFill>
                  <a:srgbClr val="2D2D8A"/>
                </a:solidFill>
                <a:latin typeface="Meiryo UI"/>
              </a:rPr>
              <a:t>6</a:t>
            </a:r>
            <a:r>
              <a:rPr sz="1400" b="1" dirty="0">
                <a:solidFill>
                  <a:srgbClr val="2D2D8A"/>
                </a:solidFill>
                <a:latin typeface="Meiryo UI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altLang="ja-JP" sz="4800" b="1" dirty="0">
                <a:solidFill>
                  <a:srgbClr val="E68000"/>
                </a:solidFill>
                <a:latin typeface="Meiryo UI"/>
              </a:rPr>
              <a:t>8</a:t>
            </a:r>
            <a:r>
              <a:rPr sz="4800" b="1" dirty="0">
                <a:solidFill>
                  <a:srgbClr val="E68000"/>
                </a:solidFill>
                <a:latin typeface="Meiryo UI"/>
              </a:rPr>
              <a:t>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dirty="0" err="1">
                <a:solidFill>
                  <a:srgbClr val="404040"/>
                </a:solidFill>
                <a:latin typeface="Meiryo UI"/>
              </a:rPr>
              <a:t>正答率</a:t>
            </a:r>
            <a:r>
              <a:rPr sz="1400" b="0" dirty="0">
                <a:solidFill>
                  <a:srgbClr val="404040"/>
                </a:solidFill>
                <a:latin typeface="Meiryo UI"/>
              </a:rPr>
              <a:t> </a:t>
            </a:r>
            <a:r>
              <a:rPr lang="en-US" altLang="ja-JP" sz="1400" b="0" dirty="0">
                <a:solidFill>
                  <a:srgbClr val="404040"/>
                </a:solidFill>
                <a:latin typeface="Meiryo UI"/>
              </a:rPr>
              <a:t>8</a:t>
            </a:r>
            <a:r>
              <a:rPr sz="1400" b="0" dirty="0">
                <a:solidFill>
                  <a:srgbClr val="404040"/>
                </a:solidFill>
                <a:latin typeface="Meiryo UI"/>
              </a:rPr>
              <a:t>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ja-JP" altLang="en-US" sz="1000" b="0">
                <a:solidFill>
                  <a:srgbClr val="E68000"/>
                </a:solidFill>
                <a:latin typeface="Meiryo UI"/>
              </a:rPr>
              <a:t>失敗</a:t>
            </a:r>
            <a:r>
              <a:rPr lang="en-US" altLang="ja-JP" sz="1000" b="0" dirty="0">
                <a:solidFill>
                  <a:srgbClr val="E68000"/>
                </a:solidFill>
                <a:latin typeface="Meiryo UI"/>
              </a:rPr>
              <a:t>:</a:t>
            </a:r>
            <a:r>
              <a:rPr lang="ja-JP" altLang="en-US" sz="1000" b="0">
                <a:solidFill>
                  <a:srgbClr val="E68000"/>
                </a:solidFill>
                <a:latin typeface="Meiryo UI"/>
              </a:rPr>
              <a:t> </a:t>
            </a:r>
            <a:r>
              <a:rPr lang="es-419" sz="1000" b="0" dirty="0">
                <a:solidFill>
                  <a:srgbClr val="E68000"/>
                </a:solidFill>
                <a:latin typeface="Meiryo UI"/>
              </a:rPr>
              <a:t>Q</a:t>
            </a:r>
            <a:r>
              <a:rPr lang="en-US" altLang="ja-JP" sz="1000" b="0" dirty="0">
                <a:solidFill>
                  <a:srgbClr val="E68000"/>
                </a:solidFill>
                <a:latin typeface="Meiryo UI"/>
              </a:rPr>
              <a:t>2</a:t>
            </a:r>
            <a:r>
              <a:rPr lang="ja-JP" altLang="en-US" sz="1000" b="0">
                <a:solidFill>
                  <a:srgbClr val="E68000"/>
                </a:solidFill>
                <a:latin typeface="Meiryo UI"/>
              </a:rPr>
              <a:t>（カウント）</a:t>
            </a:r>
            <a:r>
              <a:rPr lang="en-US" altLang="ja-JP" sz="1000" b="0" dirty="0">
                <a:solidFill>
                  <a:srgbClr val="E68000"/>
                </a:solidFill>
                <a:latin typeface="Meiryo UI"/>
              </a:rPr>
              <a:t>,</a:t>
            </a:r>
            <a:r>
              <a:rPr lang="ja-JP" altLang="en-US" sz="1000" b="0">
                <a:solidFill>
                  <a:srgbClr val="E68000"/>
                </a:solidFill>
                <a:latin typeface="Meiryo UI"/>
              </a:rPr>
              <a:t> </a:t>
            </a:r>
            <a:r>
              <a:rPr lang="es-419" sz="1000" b="0" dirty="0">
                <a:solidFill>
                  <a:srgbClr val="E68000"/>
                </a:solidFill>
                <a:latin typeface="Meiryo UI"/>
              </a:rPr>
              <a:t>Q6（</a:t>
            </a:r>
            <a:r>
              <a:rPr lang="ja-JP" altLang="en-US" sz="1000" b="0">
                <a:solidFill>
                  <a:srgbClr val="E68000"/>
                </a:solidFill>
                <a:latin typeface="Meiryo UI"/>
              </a:rPr>
              <a:t>複数セル算術）</a:t>
            </a:r>
            <a:endParaRPr sz="1000" b="0" dirty="0">
              <a:solidFill>
                <a:srgbClr val="E68000"/>
              </a:solidFill>
              <a:latin typeface="Meiryo U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937760" y="1097280"/>
            <a:ext cx="3657600" cy="2011680"/>
          </a:xfrm>
          <a:prstGeom prst="roundRect">
            <a:avLst>
              <a:gd name="adj" fmla="val 10000"/>
            </a:avLst>
          </a:prstGeom>
          <a:solidFill>
            <a:srgbClr val="DAEDEF"/>
          </a:solidFill>
          <a:ln w="15240">
            <a:solidFill>
              <a:srgbClr val="333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20640" y="118872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33399"/>
                </a:solidFill>
                <a:latin typeface="Meiryo UI"/>
              </a:rPr>
              <a:t>Google NotebookLM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55448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1">
                <a:solidFill>
                  <a:srgbClr val="339933"/>
                </a:solidFill>
                <a:latin typeface="Meiryo UI"/>
              </a:rPr>
              <a:t>10 /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46888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404040"/>
                </a:solidFill>
                <a:latin typeface="Meiryo UI"/>
              </a:rPr>
              <a:t>正答率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78892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339933"/>
                </a:solidFill>
                <a:latin typeface="Meiryo UI"/>
              </a:rPr>
              <a:t>全問正解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83280"/>
            <a:ext cx="8046720" cy="1371600"/>
          </a:xfrm>
          <a:prstGeom prst="roundRect">
            <a:avLst>
              <a:gd name="adj" fmla="val 10000"/>
            </a:avLst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474720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D2D8A"/>
                </a:solidFill>
                <a:latin typeface="Meiryo UI"/>
              </a:rPr>
              <a:t>決定的な差: 表データに対する処理能力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749039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000000"/>
                </a:solidFill>
                <a:latin typeface="Meiryo UI"/>
              </a:rPr>
              <a:t>Q2 (</a:t>
            </a:r>
            <a:r>
              <a:rPr sz="1000" b="0" dirty="0" err="1">
                <a:solidFill>
                  <a:srgbClr val="000000"/>
                </a:solidFill>
                <a:latin typeface="Meiryo UI"/>
              </a:rPr>
              <a:t>カウント</a:t>
            </a:r>
            <a:r>
              <a:rPr sz="1000" b="0" dirty="0">
                <a:solidFill>
                  <a:srgbClr val="000000"/>
                </a:solidFill>
                <a:latin typeface="Meiryo UI"/>
              </a:rPr>
              <a:t>): </a:t>
            </a:r>
            <a:r>
              <a:rPr sz="1000" b="0" dirty="0" err="1">
                <a:solidFill>
                  <a:srgbClr val="000000"/>
                </a:solidFill>
                <a:latin typeface="Meiryo UI"/>
              </a:rPr>
              <a:t>RAG「情報がない</a:t>
            </a:r>
            <a:r>
              <a:rPr sz="1000" b="0" dirty="0">
                <a:solidFill>
                  <a:srgbClr val="000000"/>
                </a:solidFill>
                <a:latin typeface="Meiryo UI"/>
              </a:rPr>
              <a:t>」 ↔ NLM「2つ（Sonnet 4.5とHaiku 4.5）」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977639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000000"/>
                </a:solidFill>
                <a:latin typeface="Meiryo UI"/>
              </a:rPr>
              <a:t>Q6 (</a:t>
            </a:r>
            <a:r>
              <a:rPr sz="1000" b="0" dirty="0" err="1">
                <a:solidFill>
                  <a:srgbClr val="000000"/>
                </a:solidFill>
                <a:latin typeface="Meiryo UI"/>
              </a:rPr>
              <a:t>算術</a:t>
            </a:r>
            <a:r>
              <a:rPr sz="1000" b="0" dirty="0">
                <a:solidFill>
                  <a:srgbClr val="000000"/>
                </a:solidFill>
                <a:latin typeface="Meiryo UI"/>
              </a:rPr>
              <a:t>): </a:t>
            </a:r>
            <a:r>
              <a:rPr sz="1000" b="0" dirty="0" err="1">
                <a:solidFill>
                  <a:srgbClr val="000000"/>
                </a:solidFill>
                <a:latin typeface="Meiryo UI"/>
              </a:rPr>
              <a:t>RAG「期間の区別なし</a:t>
            </a:r>
            <a:r>
              <a:rPr sz="1000" b="0" dirty="0">
                <a:solidFill>
                  <a:srgbClr val="000000"/>
                </a:solidFill>
                <a:latin typeface="Meiryo UI"/>
              </a:rPr>
              <a:t>」（</a:t>
            </a:r>
            <a:r>
              <a:rPr sz="1000" b="0" dirty="0" err="1">
                <a:solidFill>
                  <a:srgbClr val="000000"/>
                </a:solidFill>
                <a:latin typeface="Meiryo UI"/>
              </a:rPr>
              <a:t>誤答</a:t>
            </a:r>
            <a:r>
              <a:rPr sz="1000" b="0" dirty="0">
                <a:solidFill>
                  <a:srgbClr val="000000"/>
                </a:solidFill>
                <a:latin typeface="Meiryo UI"/>
              </a:rPr>
              <a:t>） ↔ NLM「$4 = $6 - $2」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29768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9999"/>
                </a:solidFill>
                <a:latin typeface="Meiryo UI"/>
              </a:rPr>
              <a:t>→ NotebookLMは表全体を保持しているため、行・列をまたぐ操作ができる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89204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Meiryo UI"/>
              </a:rPr>
              <a:t>RAG vs NotebookLM 比較実験レポート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89204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eiryo U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20040"/>
            <a:ext cx="73152" cy="41148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D2D8A"/>
                </a:solidFill>
                <a:latin typeface="Meiryo UI"/>
              </a:rPr>
              <a:t>9. なぜNotebookLMは正解できるのか？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841248"/>
            <a:ext cx="8412480" cy="0"/>
          </a:xfrm>
          <a:prstGeom prst="line">
            <a:avLst/>
          </a:prstGeom>
          <a:ln w="1905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9601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eiryo UI"/>
              </a:rPr>
              <a:t>RAG と NotebookLM はアーキテクチャが構造的に異なる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E68000"/>
                </a:solidFill>
                <a:latin typeface="Meiryo UI"/>
              </a:rPr>
              <a:t>自作RAGの場合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4023360" cy="36576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57629"/>
            <a:ext cx="40233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dirty="0">
                <a:latin typeface="Meiryo UI"/>
              </a:rPr>
              <a:t>| </a:t>
            </a:r>
            <a:r>
              <a:rPr sz="800" b="0" dirty="0" err="1">
                <a:latin typeface="Meiryo UI"/>
              </a:rPr>
              <a:t>機能</a:t>
            </a:r>
            <a:r>
              <a:rPr sz="800" b="0" dirty="0">
                <a:latin typeface="Meiryo UI"/>
              </a:rPr>
              <a:t> | Opus 4.6 | Sonnet 4.5 | Haiku 4.5 |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4023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00" b="0">
                <a:solidFill>
                  <a:srgbClr val="CC3333"/>
                </a:solidFill>
                <a:latin typeface="Meiryo UI"/>
              </a:rPr>
              <a:t>─ ─ ─ ─ ─ チャンク境界 ─ ─ ─ ─ ─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20011"/>
            <a:ext cx="4023360" cy="365760"/>
          </a:xfrm>
          <a:prstGeom prst="rect">
            <a:avLst/>
          </a:prstGeom>
          <a:solidFill>
            <a:srgbClr val="DAEDEF"/>
          </a:solidFill>
          <a:ln w="3175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33172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dirty="0">
                <a:solidFill>
                  <a:srgbClr val="000000"/>
                </a:solidFill>
                <a:latin typeface="Meiryo UI"/>
              </a:rPr>
              <a:t>| </a:t>
            </a:r>
            <a:r>
              <a:rPr sz="800" b="0" dirty="0" err="1">
                <a:solidFill>
                  <a:srgbClr val="000000"/>
                </a:solidFill>
                <a:latin typeface="Meiryo UI"/>
              </a:rPr>
              <a:t>適応思考</a:t>
            </a:r>
            <a:r>
              <a:rPr sz="800" b="0" dirty="0">
                <a:solidFill>
                  <a:srgbClr val="000000"/>
                </a:solidFill>
                <a:latin typeface="Meiryo UI"/>
              </a:rPr>
              <a:t> | </a:t>
            </a:r>
            <a:r>
              <a:rPr sz="800" b="0" dirty="0" err="1">
                <a:solidFill>
                  <a:srgbClr val="000000"/>
                </a:solidFill>
                <a:latin typeface="Meiryo UI"/>
              </a:rPr>
              <a:t>はい</a:t>
            </a:r>
            <a:r>
              <a:rPr sz="800" b="0" dirty="0">
                <a:solidFill>
                  <a:srgbClr val="000000"/>
                </a:solidFill>
                <a:latin typeface="Meiryo UI"/>
              </a:rPr>
              <a:t> | </a:t>
            </a:r>
            <a:r>
              <a:rPr sz="800" b="0" dirty="0" err="1">
                <a:solidFill>
                  <a:srgbClr val="000000"/>
                </a:solidFill>
                <a:latin typeface="Meiryo UI"/>
              </a:rPr>
              <a:t>いいえ</a:t>
            </a:r>
            <a:r>
              <a:rPr sz="800" b="0" dirty="0">
                <a:solidFill>
                  <a:srgbClr val="000000"/>
                </a:solidFill>
                <a:latin typeface="Meiryo UI"/>
              </a:rPr>
              <a:t> | </a:t>
            </a:r>
            <a:r>
              <a:rPr sz="800" b="0" dirty="0" err="1">
                <a:solidFill>
                  <a:srgbClr val="000000"/>
                </a:solidFill>
                <a:latin typeface="Meiryo UI"/>
              </a:rPr>
              <a:t>いいえ</a:t>
            </a:r>
            <a:r>
              <a:rPr sz="800" b="0" dirty="0">
                <a:solidFill>
                  <a:srgbClr val="000000"/>
                </a:solidFill>
                <a:latin typeface="Meiryo UI"/>
              </a:rPr>
              <a:t> |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8144" y="2756781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E68000"/>
                </a:solidFill>
                <a:latin typeface="Meiryo UI"/>
              </a:rPr>
              <a:t>→ ヘッダーと切り離されると
　 「いいえ」がどのモデルか不明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32588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339933"/>
                </a:solidFill>
                <a:latin typeface="Meiryo UI"/>
              </a:rPr>
              <a:t>NotebookLM の場合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645920"/>
            <a:ext cx="4023360" cy="960120"/>
          </a:xfrm>
          <a:prstGeom prst="rect">
            <a:avLst/>
          </a:prstGeom>
          <a:solidFill>
            <a:srgbClr val="DAEDEF"/>
          </a:solidFill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46320" y="1691640"/>
            <a:ext cx="3840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Meiryo UI"/>
              </a:rPr>
              <a:t>| 機能 | Opus 4.6 | Sonnet 4.5 | Haiku 4.5 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1920240"/>
            <a:ext cx="3840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Meiryo UI"/>
              </a:rPr>
              <a:t>| 料金 | $5 | $3 | $1 |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2148840"/>
            <a:ext cx="3840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>
                <a:solidFill>
                  <a:srgbClr val="000000"/>
                </a:solidFill>
                <a:latin typeface="Meiryo UI"/>
              </a:rPr>
              <a:t>| 拡張思考 | はい | はい | はい |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377440"/>
            <a:ext cx="3840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1">
                <a:solidFill>
                  <a:srgbClr val="2D2D8A"/>
                </a:solidFill>
                <a:latin typeface="Meiryo UI"/>
              </a:rPr>
              <a:t>| 適応思考 | はい | いいえ | いいえ |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689468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>
                <a:solidFill>
                  <a:srgbClr val="808080"/>
                </a:solidFill>
                <a:latin typeface="Meiryo UI"/>
              </a:rPr>
              <a:t>（表全体を1つの単位として保持）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5440" y="2957309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339933"/>
                </a:solidFill>
                <a:latin typeface="Meiryo UI"/>
              </a:rPr>
              <a:t>→ </a:t>
            </a:r>
            <a:r>
              <a:rPr sz="1000" b="0" dirty="0" err="1">
                <a:solidFill>
                  <a:srgbClr val="339933"/>
                </a:solidFill>
                <a:latin typeface="Meiryo UI"/>
              </a:rPr>
              <a:t>行・列の対応が完全に保たれ</a:t>
            </a:r>
            <a:r>
              <a:rPr sz="1000" b="0" dirty="0">
                <a:solidFill>
                  <a:srgbClr val="339933"/>
                </a:solidFill>
                <a:latin typeface="Meiryo UI"/>
              </a:rPr>
              <a:t>
　 </a:t>
            </a:r>
            <a:r>
              <a:rPr sz="1000" b="0" dirty="0" err="1">
                <a:solidFill>
                  <a:srgbClr val="339933"/>
                </a:solidFill>
                <a:latin typeface="Meiryo UI"/>
              </a:rPr>
              <a:t>全体構造を理解した回答が可能</a:t>
            </a:r>
            <a:endParaRPr sz="1000" b="0" dirty="0">
              <a:solidFill>
                <a:srgbClr val="339933"/>
              </a:solidFill>
              <a:latin typeface="Meiryo U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48640" y="3598752"/>
            <a:ext cx="8046720" cy="927528"/>
          </a:xfrm>
          <a:prstGeom prst="roundRect">
            <a:avLst>
              <a:gd name="adj" fmla="val 10000"/>
            </a:avLst>
          </a:prstGeom>
          <a:solidFill>
            <a:srgbClr val="B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3690193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D2D8A"/>
                </a:solidFill>
                <a:latin typeface="Meiryo UI"/>
              </a:rPr>
              <a:t>本質的な違い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918793"/>
            <a:ext cx="7680960" cy="4293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dirty="0">
                <a:solidFill>
                  <a:srgbClr val="000000"/>
                </a:solidFill>
                <a:latin typeface="Meiryo UI"/>
              </a:rPr>
              <a:t>RAG = </a:t>
            </a:r>
            <a:r>
              <a:rPr sz="1000" b="0" dirty="0" err="1">
                <a:solidFill>
                  <a:srgbClr val="000000"/>
                </a:solidFill>
                <a:latin typeface="Meiryo UI"/>
              </a:rPr>
              <a:t>文書を分割して必要な部分だけ見る</a:t>
            </a:r>
            <a:endParaRPr lang="en-US" sz="1000" dirty="0">
              <a:solidFill>
                <a:srgbClr val="000000"/>
              </a:solidFill>
              <a:latin typeface="Meiryo UI"/>
            </a:endParaRPr>
          </a:p>
          <a:p>
            <a:pPr algn="l">
              <a:lnSpc>
                <a:spcPct val="150000"/>
              </a:lnSpc>
            </a:pPr>
            <a:r>
              <a:rPr sz="1000" b="0" dirty="0" err="1">
                <a:solidFill>
                  <a:srgbClr val="000000"/>
                </a:solidFill>
                <a:latin typeface="Meiryo UI"/>
              </a:rPr>
              <a:t>NotebookLM</a:t>
            </a:r>
            <a:r>
              <a:rPr sz="1000" b="0" dirty="0">
                <a:solidFill>
                  <a:srgbClr val="000000"/>
                </a:solidFill>
                <a:latin typeface="Meiryo UI"/>
              </a:rPr>
              <a:t> = </a:t>
            </a:r>
            <a:r>
              <a:rPr sz="1000" b="0" dirty="0" err="1">
                <a:solidFill>
                  <a:srgbClr val="000000"/>
                </a:solidFill>
                <a:latin typeface="Meiryo UI"/>
              </a:rPr>
              <a:t>文書全体を保持して全体構造を把握</a:t>
            </a:r>
            <a:endParaRPr sz="1000" b="0" dirty="0">
              <a:solidFill>
                <a:srgbClr val="000000"/>
              </a:solidFill>
              <a:latin typeface="Meiryo U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65760" y="489204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Meiryo UI"/>
              </a:rPr>
              <a:t>RAG vs NotebookLM 比較実験レポート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89204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eiryo U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20040"/>
            <a:ext cx="73152" cy="41148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D2D8A"/>
                </a:solidFill>
                <a:latin typeface="Meiryo UI"/>
              </a:rPr>
              <a:t>10. v7: 表認識チャンキングの実装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841248"/>
            <a:ext cx="8412480" cy="0"/>
          </a:xfrm>
          <a:prstGeom prst="line">
            <a:avLst/>
          </a:prstGeom>
          <a:ln w="1905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9601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eiryo UI"/>
              </a:rPr>
              <a:t>改善案: Markdownの表を検出し、表全体を1つのチャンクとして保持する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68000"/>
                </a:solidFill>
                <a:latin typeface="Meiryo UI"/>
              </a:rPr>
              <a:t>Before (v6): 単純チャンク分割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4023360" cy="365760"/>
          </a:xfrm>
          <a:prstGeom prst="rect">
            <a:avLst/>
          </a:prstGeom>
          <a:solidFill>
            <a:srgbClr val="2D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eiryo UI"/>
              </a:rPr>
              <a:t>ヘッダー行（500文字制限で別チャンク）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4023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>
                <a:solidFill>
                  <a:srgbClr val="CC3333"/>
                </a:solidFill>
                <a:latin typeface="Meiryo UI"/>
              </a:rPr>
              <a:t>✕ 切断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4023360" cy="365760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37744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Meiryo UI"/>
              </a:rPr>
              <a:t>データ行A・B（独立チャンク）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43200"/>
            <a:ext cx="4023360" cy="365760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78892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Meiryo UI"/>
              </a:rPr>
              <a:t>データ行C・D（独立チャンク）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41732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339933"/>
                </a:solidFill>
                <a:latin typeface="Meiryo UI"/>
              </a:rPr>
              <a:t>After (v7): 表認識チャンキング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1737360"/>
            <a:ext cx="4023360" cy="1371600"/>
          </a:xfrm>
          <a:prstGeom prst="roundRect">
            <a:avLst>
              <a:gd name="adj" fmla="val 10000"/>
            </a:avLst>
          </a:prstGeom>
          <a:solidFill>
            <a:srgbClr val="DAEDEF"/>
          </a:solidFill>
          <a:ln w="19050">
            <a:solidFill>
              <a:srgbClr val="33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46320" y="1783080"/>
            <a:ext cx="3840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ヘッダー行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2011680"/>
            <a:ext cx="3840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Meiryo UI"/>
              </a:rPr>
              <a:t>データ行A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194560"/>
            <a:ext cx="3840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Meiryo UI"/>
              </a:rPr>
              <a:t>データ行B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377440"/>
            <a:ext cx="3840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Meiryo UI"/>
              </a:rPr>
              <a:t>データ行C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560320"/>
            <a:ext cx="38404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Meiryo UI"/>
              </a:rPr>
              <a:t>データ行D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78892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>
                <a:solidFill>
                  <a:srgbClr val="808080"/>
                </a:solidFill>
                <a:latin typeface="Meiryo UI"/>
              </a:rPr>
              <a:t>（全行が1つのチャンクに）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420852"/>
            <a:ext cx="8046720" cy="1280160"/>
          </a:xfrm>
          <a:prstGeom prst="roundRect">
            <a:avLst>
              <a:gd name="adj" fmla="val 10000"/>
            </a:avLst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3512292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solidFill>
                  <a:srgbClr val="2D2D8A"/>
                </a:solidFill>
                <a:latin typeface="Meiryo UI"/>
              </a:rPr>
              <a:t>実装の核心</a:t>
            </a:r>
            <a:r>
              <a:rPr sz="1100" b="1" dirty="0">
                <a:solidFill>
                  <a:srgbClr val="2D2D8A"/>
                </a:solidFill>
                <a:latin typeface="Meiryo UI"/>
              </a:rPr>
              <a:t> (</a:t>
            </a:r>
            <a:r>
              <a:rPr sz="1100" b="1" dirty="0" err="1">
                <a:solidFill>
                  <a:srgbClr val="2D2D8A"/>
                </a:solidFill>
                <a:latin typeface="Meiryo UI"/>
              </a:rPr>
              <a:t>src</a:t>
            </a:r>
            <a:r>
              <a:rPr sz="1100" b="1" dirty="0">
                <a:solidFill>
                  <a:srgbClr val="2D2D8A"/>
                </a:solidFill>
                <a:latin typeface="Meiryo UI"/>
              </a:rPr>
              <a:t>/</a:t>
            </a:r>
            <a:r>
              <a:rPr sz="1100" b="1" dirty="0" err="1">
                <a:solidFill>
                  <a:srgbClr val="2D2D8A"/>
                </a:solidFill>
                <a:latin typeface="Meiryo UI"/>
              </a:rPr>
              <a:t>chunker.py</a:t>
            </a:r>
            <a:r>
              <a:rPr sz="1100" b="1" dirty="0">
                <a:solidFill>
                  <a:srgbClr val="2D2D8A"/>
                </a:solidFill>
                <a:latin typeface="Meiryo UI"/>
              </a:rPr>
              <a:t>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786612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</a:rPr>
              <a:t>1. テキストを「表ブロック」と「通常テキストブロック」に分解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015212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</a:rPr>
              <a:t>2. Markdownの`|`で始まる連続行を検出し、表として1チャンクにまとめる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243812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</a:rPr>
              <a:t>3. 表の直前のセクション見出し（##）も同じチャンクに含める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472412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</a:rPr>
              <a:t>4. 各チャンクに metadata.block_type で「table」「text」のラベルを付与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89204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Meiryo UI"/>
              </a:rPr>
              <a:t>RAG vs NotebookLM 比較実験レポート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489204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eiryo U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20040"/>
            <a:ext cx="73152" cy="41148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D2D8A"/>
                </a:solidFill>
                <a:latin typeface="Meiryo UI"/>
              </a:rPr>
              <a:t>11. v7 結果: 9/10（+1問改善）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841248"/>
            <a:ext cx="8412480" cy="0"/>
          </a:xfrm>
          <a:prstGeom prst="line">
            <a:avLst/>
          </a:prstGeom>
          <a:ln w="1905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005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009999"/>
                </a:solidFill>
                <a:latin typeface="Meiryo UI"/>
              </a:rPr>
              <a:t>v6 → v7 の質問別比較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48640" cy="320040"/>
          </a:xfrm>
          <a:prstGeom prst="rect">
            <a:avLst/>
          </a:prstGeom>
          <a:solidFill>
            <a:srgbClr val="2D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97280" y="1371600"/>
            <a:ext cx="3657600" cy="320040"/>
          </a:xfrm>
          <a:prstGeom prst="rect">
            <a:avLst/>
          </a:prstGeom>
          <a:solidFill>
            <a:srgbClr val="2D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754880" y="1371600"/>
            <a:ext cx="1920240" cy="320040"/>
          </a:xfrm>
          <a:prstGeom prst="rect">
            <a:avLst/>
          </a:prstGeom>
          <a:solidFill>
            <a:srgbClr val="2D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675120" y="1371600"/>
            <a:ext cx="960120" cy="320040"/>
          </a:xfrm>
          <a:prstGeom prst="rect">
            <a:avLst/>
          </a:prstGeom>
          <a:solidFill>
            <a:srgbClr val="2D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35240" y="1371600"/>
            <a:ext cx="960120" cy="320040"/>
          </a:xfrm>
          <a:prstGeom prst="rect">
            <a:avLst/>
          </a:prstGeom>
          <a:solidFill>
            <a:srgbClr val="2D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417320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iryo UI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41732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iryo UI"/>
              </a:rPr>
              <a:t>カテゴリ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417320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iryo UI"/>
              </a:rPr>
              <a:t>正解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1417320"/>
            <a:ext cx="9601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iryo UI"/>
              </a:rPr>
              <a:t>v6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1417320"/>
            <a:ext cx="9601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iryo UI"/>
              </a:rPr>
              <a:t>v7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691640"/>
            <a:ext cx="54864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097280" y="1691640"/>
            <a:ext cx="365760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754880" y="1691640"/>
            <a:ext cx="192024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675120" y="1691640"/>
            <a:ext cx="96012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635240" y="1691640"/>
            <a:ext cx="96012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172821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Q1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1728216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Meiryo UI"/>
              </a:rPr>
              <a:t>否定（〜しない）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1728216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Meiryo UI"/>
              </a:rPr>
              <a:t>Haiku 4.5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1728216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339933"/>
                </a:solidFill>
                <a:latin typeface="Meiryo UI"/>
              </a:rPr>
              <a:t>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728216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339933"/>
                </a:solidFill>
                <a:latin typeface="Meiryo UI"/>
              </a:rPr>
              <a:t>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1938528"/>
            <a:ext cx="548640" cy="246888"/>
          </a:xfrm>
          <a:prstGeom prst="rect">
            <a:avLst/>
          </a:prstGeom>
          <a:solidFill>
            <a:srgbClr val="B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097280" y="1938528"/>
            <a:ext cx="3657600" cy="246888"/>
          </a:xfrm>
          <a:prstGeom prst="rect">
            <a:avLst/>
          </a:prstGeom>
          <a:solidFill>
            <a:srgbClr val="B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754880" y="1938528"/>
            <a:ext cx="1920240" cy="246888"/>
          </a:xfrm>
          <a:prstGeom prst="rect">
            <a:avLst/>
          </a:prstGeom>
          <a:solidFill>
            <a:srgbClr val="B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675120" y="1938528"/>
            <a:ext cx="960120" cy="246888"/>
          </a:xfrm>
          <a:prstGeom prst="rect">
            <a:avLst/>
          </a:prstGeom>
          <a:solidFill>
            <a:srgbClr val="B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635240" y="1938528"/>
            <a:ext cx="960120" cy="246888"/>
          </a:xfrm>
          <a:prstGeom prst="rect">
            <a:avLst/>
          </a:prstGeom>
          <a:solidFill>
            <a:srgbClr val="BBE0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1975104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Q2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1975104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Meiryo UI"/>
              </a:rPr>
              <a:t>カウント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1975104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Meiryo UI"/>
              </a:rPr>
              <a:t>2個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1975104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CC3333"/>
                </a:solidFill>
                <a:latin typeface="Meiryo UI"/>
              </a:rP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1975104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CC3333"/>
                </a:solidFill>
                <a:latin typeface="Meiryo UI"/>
              </a:rPr>
              <a:t>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2185416"/>
            <a:ext cx="54864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097280" y="2185416"/>
            <a:ext cx="365760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54880" y="2185416"/>
            <a:ext cx="192024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675120" y="2185416"/>
            <a:ext cx="96012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635240" y="2185416"/>
            <a:ext cx="96012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8640" y="2221992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Q3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88720" y="2221992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Meiryo UI"/>
              </a:rPr>
              <a:t>紛らわしい命名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2221992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Meiryo UI"/>
              </a:rPr>
              <a:t>$0.25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75120" y="2221992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339933"/>
                </a:solidFill>
                <a:latin typeface="Meiryo UI"/>
              </a:rPr>
              <a:t>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35240" y="2221992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339933"/>
                </a:solidFill>
                <a:latin typeface="Meiryo UI"/>
              </a:rPr>
              <a:t>○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2432304"/>
            <a:ext cx="54864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1097280" y="2432304"/>
            <a:ext cx="365760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754880" y="2432304"/>
            <a:ext cx="192024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675120" y="2432304"/>
            <a:ext cx="96012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7635240" y="2432304"/>
            <a:ext cx="96012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48640" y="24688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Q4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88720" y="2468880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Meiryo UI"/>
              </a:rPr>
              <a:t>順位付け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2468880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Meiryo UI"/>
              </a:rPr>
              <a:t>Haiku 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0" y="246888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339933"/>
                </a:solidFill>
                <a:latin typeface="Meiryo UI"/>
              </a:rPr>
              <a:t>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6888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339933"/>
                </a:solidFill>
                <a:latin typeface="Meiryo UI"/>
              </a:rPr>
              <a:t>○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2679192"/>
            <a:ext cx="54864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1097280" y="2679192"/>
            <a:ext cx="365760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4754880" y="2679192"/>
            <a:ext cx="192024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675120" y="2679192"/>
            <a:ext cx="96012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635240" y="2679192"/>
            <a:ext cx="96012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48640" y="2715768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Q5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88720" y="271576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Meiryo UI"/>
              </a:rPr>
              <a:t>記載なし推論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54880" y="2715768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Meiryo UI"/>
              </a:rPr>
              <a:t>いいえ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75120" y="2715768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339933"/>
                </a:solidFill>
                <a:latin typeface="Meiryo UI"/>
              </a:rPr>
              <a:t>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35240" y="2715768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339933"/>
                </a:solidFill>
                <a:latin typeface="Meiryo UI"/>
              </a:rPr>
              <a:t>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2926080"/>
            <a:ext cx="548640" cy="24688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1097280" y="2926080"/>
            <a:ext cx="3657600" cy="24688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4754880" y="2926080"/>
            <a:ext cx="1920240" cy="24688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6675120" y="2926080"/>
            <a:ext cx="960120" cy="24688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7635240" y="2926080"/>
            <a:ext cx="960120" cy="24688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48640" y="296265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Q6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88720" y="2962656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Meiryo UI"/>
              </a:rPr>
              <a:t>複数セル算術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54880" y="2962656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Meiryo UI"/>
              </a:rPr>
              <a:t>$4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75120" y="2962656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CC3333"/>
                </a:solidFill>
                <a:latin typeface="Meiryo UI"/>
              </a:rPr>
              <a:t>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2962656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339933"/>
                </a:solidFill>
                <a:latin typeface="Meiryo UI"/>
              </a:rPr>
              <a:t>○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8640" y="3172968"/>
            <a:ext cx="54864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1097280" y="3172968"/>
            <a:ext cx="365760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4754880" y="3172968"/>
            <a:ext cx="192024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6675120" y="3172968"/>
            <a:ext cx="96012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7635240" y="3172968"/>
            <a:ext cx="96012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548640" y="3209544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Q7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88720" y="3209544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Meiryo UI"/>
              </a:rPr>
              <a:t>バージョン混同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0" y="3209544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Meiryo UI"/>
              </a:rPr>
              <a:t>output_config.format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675120" y="3209544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339933"/>
                </a:solidFill>
                <a:latin typeface="Meiryo UI"/>
              </a:rPr>
              <a:t>○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209544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339933"/>
                </a:solidFill>
                <a:latin typeface="Meiryo UI"/>
              </a:rPr>
              <a:t>○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3419856"/>
            <a:ext cx="54864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1097280" y="3419856"/>
            <a:ext cx="365760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4754880" y="3419856"/>
            <a:ext cx="192024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6675120" y="3419856"/>
            <a:ext cx="96012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7635240" y="3419856"/>
            <a:ext cx="96012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548640" y="3456432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Q8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88720" y="3456432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Meiryo UI"/>
              </a:rPr>
              <a:t>比率・乗数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0" y="3456432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Meiryo UI"/>
              </a:rPr>
              <a:t>1.25倍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675120" y="3456432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339933"/>
                </a:solidFill>
                <a:latin typeface="Meiryo UI"/>
              </a:rPr>
              <a:t>○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35240" y="3456432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339933"/>
                </a:solidFill>
                <a:latin typeface="Meiryo UI"/>
              </a:rPr>
              <a:t>○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48640" y="3666744"/>
            <a:ext cx="54864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1097280" y="3666744"/>
            <a:ext cx="365760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4754880" y="3666744"/>
            <a:ext cx="192024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6675120" y="3666744"/>
            <a:ext cx="96012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7635240" y="3666744"/>
            <a:ext cx="96012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548640" y="370332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Q9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88720" y="3703320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Meiryo UI"/>
              </a:rPr>
              <a:t>暗黙の制約判定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0" y="3703320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Meiryo UI"/>
              </a:rPr>
              <a:t>いいえ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675120" y="370332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339933"/>
                </a:solidFill>
                <a:latin typeface="Meiryo UI"/>
              </a:rPr>
              <a:t>○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635240" y="370332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339933"/>
                </a:solidFill>
                <a:latin typeface="Meiryo UI"/>
              </a:rPr>
              <a:t>○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48640" y="3913631"/>
            <a:ext cx="54864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1097280" y="3913631"/>
            <a:ext cx="365760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4754880" y="3913631"/>
            <a:ext cx="192024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6675120" y="3913631"/>
            <a:ext cx="96012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7635240" y="3913631"/>
            <a:ext cx="96012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548640" y="3950207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D2D8A"/>
                </a:solidFill>
                <a:latin typeface="Meiryo UI"/>
              </a:rPr>
              <a:t>Q10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88720" y="3950207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Meiryo UI"/>
              </a:rPr>
              <a:t>非推奨判定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754880" y="3950207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000000"/>
                </a:solidFill>
                <a:latin typeface="Meiryo UI"/>
              </a:rPr>
              <a:t>"enabled"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675120" y="3950207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339933"/>
                </a:solidFill>
                <a:latin typeface="Meiryo UI"/>
              </a:rPr>
              <a:t>○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950207"/>
            <a:ext cx="960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339933"/>
                </a:solidFill>
                <a:latin typeface="Meiryo UI"/>
              </a:rPr>
              <a:t>○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8640" y="4477391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Q6が解けるようになったのは、料金表全体（11モデル × 5列）が1チャンクで取得されたため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65760" y="489204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Meiryo UI"/>
              </a:rPr>
              <a:t>RAG vs NotebookLM 比較実験レポート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046720" y="489204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eiryo U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20040"/>
            <a:ext cx="73152" cy="41148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D2D8A"/>
                </a:solidFill>
                <a:latin typeface="Meiryo UI"/>
              </a:rPr>
              <a:t>12. v7でもQ2が解けない理由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841248"/>
            <a:ext cx="8412480" cy="0"/>
          </a:xfrm>
          <a:prstGeom prst="line">
            <a:avLst/>
          </a:prstGeom>
          <a:ln w="1905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9601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Meiryo UI"/>
              </a:rPr>
              <a:t>表認識チャンキングだけでは解決しない、別の問題が判明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67483"/>
            <a:ext cx="8046720" cy="640080"/>
          </a:xfrm>
          <a:prstGeom prst="roundRect">
            <a:avLst>
              <a:gd name="adj" fmla="val 10000"/>
            </a:avLst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358923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solidFill>
                  <a:srgbClr val="2D2D8A"/>
                </a:solidFill>
                <a:latin typeface="Meiryo UI"/>
              </a:rPr>
              <a:t>質問</a:t>
            </a:r>
            <a:r>
              <a:rPr sz="1100" b="1" dirty="0">
                <a:solidFill>
                  <a:srgbClr val="2D2D8A"/>
                </a:solidFill>
                <a:latin typeface="Meiryo UI"/>
              </a:rPr>
              <a:t>: 「</a:t>
            </a:r>
            <a:r>
              <a:rPr sz="1100" b="1" dirty="0" err="1">
                <a:solidFill>
                  <a:srgbClr val="2D2D8A"/>
                </a:solidFill>
                <a:latin typeface="Meiryo UI"/>
              </a:rPr>
              <a:t>最新モデル比較表で『適応思考</a:t>
            </a:r>
            <a:r>
              <a:rPr sz="1100" b="1" dirty="0">
                <a:solidFill>
                  <a:srgbClr val="2D2D8A"/>
                </a:solidFill>
                <a:latin typeface="Meiryo UI"/>
              </a:rPr>
              <a:t>: </a:t>
            </a:r>
            <a:r>
              <a:rPr sz="1100" b="1" dirty="0" err="1">
                <a:solidFill>
                  <a:srgbClr val="2D2D8A"/>
                </a:solidFill>
                <a:latin typeface="Meiryo UI"/>
              </a:rPr>
              <a:t>いいえ』のモデルは何個</a:t>
            </a:r>
            <a:r>
              <a:rPr sz="1100" b="1" dirty="0">
                <a:solidFill>
                  <a:srgbClr val="2D2D8A"/>
                </a:solidFill>
                <a:latin typeface="Meiryo UI"/>
              </a:rPr>
              <a:t>？」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587523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E68000"/>
                </a:solidFill>
                <a:latin typeface="Meiryo UI"/>
              </a:rPr>
              <a:t>→ RAGの回答: 「資料に情報が含まれていません」（v6・v7とも同じ）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9949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9999"/>
                </a:solidFill>
                <a:latin typeface="Meiryo UI"/>
              </a:rPr>
              <a:t>v7の検索結果 Top 8 </a:t>
            </a:r>
            <a:r>
              <a:rPr sz="1100" b="1" dirty="0" err="1">
                <a:solidFill>
                  <a:srgbClr val="009999"/>
                </a:solidFill>
                <a:latin typeface="Meiryo UI"/>
              </a:rPr>
              <a:t>を確認すると</a:t>
            </a:r>
            <a:r>
              <a:rPr sz="1100" b="1" dirty="0">
                <a:solidFill>
                  <a:srgbClr val="009999"/>
                </a:solidFill>
                <a:latin typeface="Meiryo UI"/>
              </a:rPr>
              <a:t>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3531"/>
            <a:ext cx="804672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370107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D2D8A"/>
                </a:solidFill>
                <a:latin typeface="Meiryo UI"/>
              </a:rPr>
              <a:t>1位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370107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Meiryo UI"/>
              </a:rPr>
              <a:t>extended-thinking.md (説明文)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370107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eiryo UI"/>
              </a:rPr>
              <a:t>距離 0.328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589563"/>
            <a:ext cx="804672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2626139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D2D8A"/>
                </a:solidFill>
                <a:latin typeface="Meiryo UI"/>
              </a:rPr>
              <a:t>2位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626139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Meiryo UI"/>
              </a:rPr>
              <a:t>prompt-engineering.md (説明文)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62613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eiryo UI"/>
              </a:rPr>
              <a:t>距離 0.329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845595"/>
            <a:ext cx="804672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2882171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D2D8A"/>
                </a:solidFill>
                <a:latin typeface="Meiryo UI"/>
              </a:rPr>
              <a:t>3位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2882171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Meiryo UI"/>
              </a:rPr>
              <a:t>extended-thinking.md (説明文)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2882171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eiryo UI"/>
              </a:rPr>
              <a:t>距離 0.352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101627"/>
            <a:ext cx="804672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3138203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D2D8A"/>
                </a:solidFill>
                <a:latin typeface="Meiryo UI"/>
              </a:rPr>
              <a:t>4位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138203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Meiryo UI"/>
              </a:rPr>
              <a:t>prompt-engineering.md (説明文)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138203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eiryo UI"/>
              </a:rPr>
              <a:t>距離 0.353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357659"/>
            <a:ext cx="804672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3394235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D2D8A"/>
                </a:solidFill>
                <a:latin typeface="Meiryo UI"/>
              </a:rPr>
              <a:t>5〜7位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3394235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Meiryo UI"/>
              </a:rPr>
              <a:t>extended-thinking.md (説明文)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3394235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eiryo UI"/>
              </a:rPr>
              <a:t>距離 0.356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613691"/>
            <a:ext cx="8046720" cy="246888"/>
          </a:xfrm>
          <a:prstGeom prst="rect">
            <a:avLst/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" y="3650267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D2D8A"/>
                </a:solidFill>
                <a:latin typeface="Meiryo UI"/>
              </a:rPr>
              <a:t>8位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3650267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Meiryo UI"/>
              </a:rPr>
              <a:t>extended-thinking.md (表)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650267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eiryo UI"/>
              </a:rPr>
              <a:t>距離 0.366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869723"/>
            <a:ext cx="8046720" cy="246888"/>
          </a:xfrm>
          <a:prstGeom prst="rect">
            <a:avLst/>
          </a:prstGeom>
          <a:solidFill>
            <a:srgbClr val="99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" y="3906299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D2D8A"/>
                </a:solidFill>
                <a:latin typeface="Meiryo UI"/>
              </a:rPr>
              <a:t>圏外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3906299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Meiryo UI"/>
              </a:rPr>
              <a:t>models_overview.md (表) ← 必要なチャンク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90629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eiryo UI"/>
              </a:rPr>
              <a:t>距離 0.400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4280932"/>
            <a:ext cx="8046720" cy="502920"/>
          </a:xfrm>
          <a:prstGeom prst="roundRect">
            <a:avLst>
              <a:gd name="adj" fmla="val 10000"/>
            </a:avLst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77240" y="4344940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2D8A"/>
                </a:solidFill>
                <a:latin typeface="Meiryo UI"/>
              </a:rPr>
              <a:t>原因: 「適応思考」キーワードが説明文に多数出現するため、説明文チャンクが上位を占める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4555252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Meiryo UI"/>
              </a:rPr>
              <a:t>models_overview.mdの表内に「適応思考」は1行しかなく、相対的な類似度が低くなる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489204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Meiryo UI"/>
              </a:rPr>
              <a:t>RAG vs NotebookLM 比較実験レポート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489204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eiryo U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20040"/>
            <a:ext cx="73152" cy="41148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D2D8A"/>
                </a:solidFill>
                <a:latin typeface="Meiryo UI"/>
              </a:rPr>
              <a:t>13. 結論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841248"/>
            <a:ext cx="8412480" cy="0"/>
          </a:xfrm>
          <a:prstGeom prst="line">
            <a:avLst/>
          </a:prstGeom>
          <a:ln w="1905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48640" y="1020324"/>
            <a:ext cx="8046720" cy="713232"/>
          </a:xfrm>
          <a:prstGeom prst="roundRect">
            <a:avLst>
              <a:gd name="adj" fmla="val 10000"/>
            </a:avLst>
          </a:prstGeom>
          <a:solidFill>
            <a:srgbClr val="DAEDEF"/>
          </a:solidFill>
          <a:ln w="6350">
            <a:solidFill>
              <a:srgbClr val="00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130051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9999"/>
                </a:solidFill>
                <a:latin typeface="Meiryo UI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1117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D2D8A"/>
                </a:solidFill>
                <a:latin typeface="Meiryo UI"/>
              </a:rPr>
              <a:t>単純な事実抽出ではRAGとNotebookLMはほぼ同等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860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</a:rPr>
              <a:t>v4（事実抽出）では RAG 94%、v5（マルチソース）では RAG 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97563"/>
            <a:ext cx="8046720" cy="713232"/>
          </a:xfrm>
          <a:prstGeom prst="roundRect">
            <a:avLst>
              <a:gd name="adj" fmla="val 10000"/>
            </a:avLst>
          </a:prstGeom>
          <a:solidFill>
            <a:srgbClr val="DAEDEF"/>
          </a:solidFill>
          <a:ln w="6350">
            <a:solidFill>
              <a:srgbClr val="00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90729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9999"/>
                </a:solidFill>
                <a:latin typeface="Meiryo UI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88900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D2D8A"/>
                </a:solidFill>
                <a:latin typeface="Meiryo UI"/>
              </a:rPr>
              <a:t>RAGの構造的弱点は表データで露呈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63323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</a:rPr>
              <a:t>v6では RAG 80% vs NotebookLM 100%、Q2（カウント）とQ6（複数セル算術）で失敗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574804"/>
            <a:ext cx="8046720" cy="713232"/>
          </a:xfrm>
          <a:prstGeom prst="roundRect">
            <a:avLst>
              <a:gd name="adj" fmla="val 10000"/>
            </a:avLst>
          </a:prstGeom>
          <a:solidFill>
            <a:srgbClr val="DAEDEF"/>
          </a:solidFill>
          <a:ln w="6350">
            <a:solidFill>
              <a:srgbClr val="00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268453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9999"/>
                </a:solidFill>
                <a:latin typeface="Meiryo UI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66624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D2D8A"/>
                </a:solidFill>
                <a:latin typeface="Meiryo UI"/>
              </a:rPr>
              <a:t>本質的な違いは「文書の渡し方」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940564"/>
            <a:ext cx="73152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40404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RAG = </a:t>
            </a:r>
            <a:r>
              <a:rPr sz="1000" b="0" dirty="0" err="1">
                <a:solidFill>
                  <a:srgbClr val="40404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部分（チャンク</a:t>
            </a:r>
            <a:r>
              <a:rPr sz="1000" b="0" dirty="0">
                <a:solidFill>
                  <a:srgbClr val="40404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）／ </a:t>
            </a:r>
            <a:r>
              <a:rPr sz="1000" b="0" dirty="0" err="1">
                <a:solidFill>
                  <a:srgbClr val="40404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NotebookLM</a:t>
            </a:r>
            <a:r>
              <a:rPr sz="1000" b="0" dirty="0">
                <a:solidFill>
                  <a:srgbClr val="40404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 = </a:t>
            </a:r>
            <a:r>
              <a:rPr sz="1000" b="0" dirty="0" err="1">
                <a:solidFill>
                  <a:srgbClr val="40404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全体保持</a:t>
            </a:r>
            <a:r>
              <a:rPr lang="ja-JP" altLang="en-US" sz="1000" b="0">
                <a:solidFill>
                  <a:srgbClr val="40404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。</a:t>
            </a:r>
            <a:r>
              <a:rPr sz="1000" b="0" dirty="0" err="1">
                <a:solidFill>
                  <a:srgbClr val="40404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LLMの能力差ではな</a:t>
            </a:r>
            <a:r>
              <a:rPr lang="en-US" sz="1000" dirty="0" err="1">
                <a:solidFill>
                  <a:srgbClr val="404040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く、コンテキストサイズの違い</a:t>
            </a:r>
            <a:endParaRPr sz="1000" b="0" dirty="0">
              <a:solidFill>
                <a:srgbClr val="40404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48640" y="3352044"/>
            <a:ext cx="8046720" cy="713232"/>
          </a:xfrm>
          <a:prstGeom prst="roundRect">
            <a:avLst>
              <a:gd name="adj" fmla="val 10000"/>
            </a:avLst>
          </a:prstGeom>
          <a:solidFill>
            <a:srgbClr val="DAEDEF"/>
          </a:solidFill>
          <a:ln w="6350">
            <a:solidFill>
              <a:srgbClr val="00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46177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9999"/>
                </a:solidFill>
                <a:latin typeface="Meiryo UI"/>
              </a:rPr>
              <a:t>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44348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D2D8A"/>
                </a:solidFill>
                <a:latin typeface="Meiryo UI"/>
              </a:rPr>
              <a:t>工夫すればRAGも改善できる（v7で実証）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71780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</a:rPr>
              <a:t>表認識チャンキングで Q6 が解けるようになり、80% → 90% に向上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29284"/>
            <a:ext cx="8046720" cy="713232"/>
          </a:xfrm>
          <a:prstGeom prst="roundRect">
            <a:avLst>
              <a:gd name="adj" fmla="val 10000"/>
            </a:avLst>
          </a:prstGeom>
          <a:solidFill>
            <a:srgbClr val="DAEDEF"/>
          </a:solidFill>
          <a:ln w="6350">
            <a:solidFill>
              <a:srgbClr val="00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423901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009999"/>
                </a:solidFill>
                <a:latin typeface="Meiryo UI"/>
              </a:rPr>
              <a:t>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220723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D2D8A"/>
                </a:solidFill>
                <a:latin typeface="Meiryo UI"/>
              </a:rPr>
              <a:t>ただし汎用的な解決には限界がある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49504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</a:rPr>
              <a:t>Q2のような検索バイアスは別の改善が必要で、副作用なしの解決は難しい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89204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Meiryo UI"/>
              </a:rPr>
              <a:t>RAG vs NotebookLM 比較実験レポート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89204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eiryo U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20040"/>
            <a:ext cx="73152" cy="41148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D2D8A"/>
                </a:solidFill>
                <a:latin typeface="Meiryo UI"/>
              </a:rPr>
              <a:t>14. 実験を通じて学んだこと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841248"/>
            <a:ext cx="8412480" cy="0"/>
          </a:xfrm>
          <a:prstGeom prst="line">
            <a:avLst/>
          </a:prstGeom>
          <a:ln w="1905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00584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9999"/>
                </a:solidFill>
                <a:latin typeface="Meiryo UI"/>
              </a:rPr>
              <a:t>技術的な学び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73152" cy="54864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41732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 err="1">
                <a:solidFill>
                  <a:srgbClr val="2D2D8A"/>
                </a:solidFill>
                <a:latin typeface="Meiryo UI"/>
              </a:rPr>
              <a:t>チャンク分割は表データに不利</a:t>
            </a:r>
            <a:endParaRPr sz="1000" b="1" dirty="0">
              <a:solidFill>
                <a:srgbClr val="2D2D8A"/>
              </a:solidFill>
              <a:latin typeface="Meiryo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13232" y="164592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 err="1">
                <a:solidFill>
                  <a:srgbClr val="404040"/>
                </a:solidFill>
                <a:latin typeface="Meiryo UI"/>
              </a:rPr>
              <a:t>ヘッダーとセルが分離すると意味が失われる</a:t>
            </a:r>
            <a:endParaRPr sz="900" b="0" dirty="0">
              <a:solidFill>
                <a:srgbClr val="404040"/>
              </a:solidFill>
              <a:latin typeface="Meiryo U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73152" cy="54864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205740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2D8A"/>
                </a:solidFill>
                <a:latin typeface="Meiryo UI"/>
              </a:rPr>
              <a:t>クロスリンガル検索の限界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28600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all-MiniLM-L6-v2 → multilingual-e5-large に変更で大幅改善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97480"/>
            <a:ext cx="73152" cy="54864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269748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2D8A"/>
                </a:solidFill>
                <a:latin typeface="Meiryo UI"/>
              </a:rPr>
              <a:t>検索バイアスの存在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92608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頻出キーワードを含む説明文が上位を独占する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37560"/>
            <a:ext cx="73152" cy="54864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3232" y="333756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2D8A"/>
                </a:solidFill>
                <a:latin typeface="Meiryo UI"/>
              </a:rPr>
              <a:t>プロンプトで挙動を制御可能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56616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推測禁止・論理的推論の明示で精度向上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100584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9999"/>
                </a:solidFill>
                <a:latin typeface="Meiryo UI"/>
              </a:rPr>
              <a:t>実験設計の学び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1417320"/>
            <a:ext cx="73152" cy="548640"/>
          </a:xfrm>
          <a:prstGeom prst="rect">
            <a:avLst/>
          </a:prstGeom>
          <a:solidFill>
            <a:srgbClr val="33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19472" y="141732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dirty="0" err="1">
                <a:solidFill>
                  <a:srgbClr val="2D2D8A"/>
                </a:solidFill>
                <a:latin typeface="Meiryo UI"/>
              </a:rPr>
              <a:t>採点基準の重要性</a:t>
            </a:r>
            <a:endParaRPr sz="1000" b="1" dirty="0">
              <a:solidFill>
                <a:srgbClr val="2D2D8A"/>
              </a:solidFill>
              <a:latin typeface="Meiryo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919472" y="164592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再現性のある評価には客観的なルーブリックが必須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2057400"/>
            <a:ext cx="73152" cy="548640"/>
          </a:xfrm>
          <a:prstGeom prst="rect">
            <a:avLst/>
          </a:prstGeom>
          <a:solidFill>
            <a:srgbClr val="33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919472" y="205740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2D8A"/>
                </a:solidFill>
                <a:latin typeface="Meiryo UI"/>
              </a:rPr>
              <a:t>質問設計が成果を左右する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9472" y="2286000"/>
            <a:ext cx="384048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solidFill>
                  <a:srgbClr val="404040"/>
                </a:solidFill>
                <a:latin typeface="Meiryo UI"/>
              </a:rPr>
              <a:t>v5で天井→v6で意図的に弱点を突き</a:t>
            </a:r>
            <a:r>
              <a:rPr lang="en-US" sz="900" dirty="0">
                <a:solidFill>
                  <a:srgbClr val="404040"/>
                </a:solidFill>
                <a:latin typeface="Meiryo UI"/>
              </a:rPr>
              <a:t>、</a:t>
            </a:r>
            <a:r>
              <a:rPr sz="900" b="0" dirty="0">
                <a:solidFill>
                  <a:srgbClr val="404040"/>
                </a:solidFill>
                <a:latin typeface="Meiryo UI"/>
              </a:rPr>
              <a:t>差を発見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2697480"/>
            <a:ext cx="73152" cy="548640"/>
          </a:xfrm>
          <a:prstGeom prst="rect">
            <a:avLst/>
          </a:prstGeom>
          <a:solidFill>
            <a:srgbClr val="33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919472" y="269748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2D8A"/>
                </a:solidFill>
                <a:latin typeface="Meiryo UI"/>
              </a:rPr>
              <a:t>ベースライン比較の価値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9472" y="292608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NotebookLM比較で構造的な違いが明確化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3337560"/>
            <a:ext cx="73152" cy="548640"/>
          </a:xfrm>
          <a:prstGeom prst="rect">
            <a:avLst/>
          </a:prstGeom>
          <a:solidFill>
            <a:srgbClr val="33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919472" y="333756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D2D8A"/>
                </a:solidFill>
                <a:latin typeface="Meiryo UI"/>
              </a:rPr>
              <a:t>仮説→実装→検証のサイクル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19472" y="356616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v7で仮説を実装し、改善と限界を同時に発見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114800"/>
            <a:ext cx="8046720" cy="640080"/>
          </a:xfrm>
          <a:prstGeom prst="roundRect">
            <a:avLst>
              <a:gd name="adj" fmla="val 10000"/>
            </a:avLst>
          </a:prstGeom>
          <a:solidFill>
            <a:srgbClr val="BBE0E3"/>
          </a:solidFill>
          <a:ln w="12700">
            <a:solidFill>
              <a:srgbClr val="2D2D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4206240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solidFill>
                  <a:srgbClr val="2D2D8A"/>
                </a:solidFill>
                <a:latin typeface="Meiryo UI"/>
              </a:rPr>
              <a:t>最も重要な気づき</a:t>
            </a:r>
            <a:endParaRPr sz="1100" b="1" dirty="0">
              <a:solidFill>
                <a:srgbClr val="2D2D8A"/>
              </a:solidFill>
              <a:latin typeface="Meiryo U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77240" y="4434840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solidFill>
                  <a:srgbClr val="009999"/>
                </a:solidFill>
                <a:latin typeface="Meiryo UI"/>
              </a:rPr>
              <a:t>RAGの限界はLLMの能力ではなく</a:t>
            </a:r>
            <a:r>
              <a:rPr sz="1100" b="1" dirty="0">
                <a:solidFill>
                  <a:srgbClr val="009999"/>
                </a:solidFill>
                <a:latin typeface="Meiryo UI"/>
              </a:rPr>
              <a:t>、「</a:t>
            </a:r>
            <a:r>
              <a:rPr sz="1100" b="1" dirty="0" err="1">
                <a:solidFill>
                  <a:srgbClr val="009999"/>
                </a:solidFill>
                <a:latin typeface="Meiryo UI"/>
              </a:rPr>
              <a:t>情報の渡し方」に起因する構造的なもの</a:t>
            </a:r>
            <a:endParaRPr sz="1100" b="1" dirty="0">
              <a:solidFill>
                <a:srgbClr val="009999"/>
              </a:solidFill>
              <a:latin typeface="Meiryo UI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65760" y="489204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Meiryo UI"/>
              </a:rPr>
              <a:t>RAG vs NotebookLM 比較実験レポート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0" y="489204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eiryo U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20040"/>
            <a:ext cx="73152" cy="41148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2D2D8A"/>
                </a:solidFill>
                <a:latin typeface="Meiryo UI"/>
              </a:rPr>
              <a:t>1</a:t>
            </a:r>
            <a:r>
              <a:rPr lang="en-US" sz="2200" b="1" dirty="0">
                <a:solidFill>
                  <a:srgbClr val="2D2D8A"/>
                </a:solidFill>
                <a:latin typeface="Meiryo UI"/>
              </a:rPr>
              <a:t>5</a:t>
            </a:r>
            <a:r>
              <a:rPr sz="2200" b="1" dirty="0">
                <a:solidFill>
                  <a:srgbClr val="2D2D8A"/>
                </a:solidFill>
                <a:latin typeface="Meiryo UI"/>
              </a:rPr>
              <a:t>. </a:t>
            </a:r>
            <a:r>
              <a:rPr sz="2200" b="1" dirty="0" err="1">
                <a:solidFill>
                  <a:srgbClr val="2D2D8A"/>
                </a:solidFill>
                <a:latin typeface="Meiryo UI"/>
              </a:rPr>
              <a:t>参考情報・成果物</a:t>
            </a:r>
            <a:endParaRPr sz="2200" b="1" dirty="0">
              <a:solidFill>
                <a:srgbClr val="2D2D8A"/>
              </a:solidFill>
              <a:latin typeface="Meiryo UI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365760" y="841248"/>
            <a:ext cx="8412480" cy="0"/>
          </a:xfrm>
          <a:prstGeom prst="line">
            <a:avLst/>
          </a:prstGeom>
          <a:ln w="1905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0058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9999"/>
                </a:solidFill>
                <a:latin typeface="Meiryo UI"/>
              </a:rPr>
              <a:t>ソースコード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8046720" cy="502920"/>
          </a:xfrm>
          <a:prstGeom prst="roundRect">
            <a:avLst>
              <a:gd name="adj" fmla="val 10000"/>
            </a:avLst>
          </a:prstGeom>
          <a:solidFill>
            <a:srgbClr val="DAED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540179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2D2D8A"/>
                </a:solidFill>
                <a:latin typeface="Meiryo UI"/>
              </a:rPr>
              <a:t>GitHub: https://github.com/shogonakamura1/rag-comparison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09999"/>
                </a:solidFill>
                <a:latin typeface="Meiryo UI"/>
              </a:rPr>
              <a:t>評価結果ファイル（evaluation/results/）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D2D8A"/>
                </a:solidFill>
                <a:latin typeface="Meiryo UI"/>
              </a:rPr>
              <a:t>v1_baseline_*.{json,md}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377440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ベースライン評価（旧質問セット）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2432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D2D8A"/>
                </a:solidFill>
                <a:latin typeface="Meiryo UI"/>
              </a:rPr>
              <a:t>v2_query_translation_*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624328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クエリ翻訳実験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71216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D2D8A"/>
                </a:solidFill>
                <a:latin typeface="Meiryo UI"/>
              </a:rPr>
              <a:t>v3_filtering_*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871216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距離フィルタリング + A/Bテスト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18104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D2D8A"/>
                </a:solidFill>
                <a:latin typeface="Meiryo UI"/>
              </a:rPr>
              <a:t>v4_fact_extraction_*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118104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単一ソース事実抽出（94%）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36499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D2D8A"/>
                </a:solidFill>
                <a:latin typeface="Meiryo UI"/>
              </a:rPr>
              <a:t>v5_multi_source_*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364992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複数ソース・計算問題（100%）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61188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D2D8A"/>
                </a:solidFill>
                <a:latin typeface="Meiryo UI"/>
              </a:rPr>
              <a:t>v6_weakness_targeted_*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611880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RAG弱点特化（80%）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85876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D2D8A"/>
                </a:solidFill>
                <a:latin typeface="Meiryo UI"/>
              </a:rPr>
              <a:t>v6_rag_vs_notebooklm_comparison.md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858768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NotebookLM 直接比較レポート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105656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D2D8A"/>
                </a:solidFill>
                <a:latin typeface="Meiryo UI"/>
              </a:rPr>
              <a:t>v7_table_chunking_*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105656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表認識チャンキング（90%）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444796"/>
            <a:ext cx="8046720" cy="365760"/>
          </a:xfrm>
          <a:prstGeom prst="roundRect">
            <a:avLst>
              <a:gd name="adj" fmla="val 10000"/>
            </a:avLst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4555366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Meiryo UI"/>
              </a:rPr>
              <a:t>Python / ChromaDB / sentence-transformers / Gemini API / cc-sdd（仕様駆動開発）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89204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Meiryo UI"/>
              </a:rPr>
              <a:t>RAG vs NotebookLM 比較実験レポート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892040"/>
            <a:ext cx="73152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dirty="0">
                <a:solidFill>
                  <a:srgbClr val="808080"/>
                </a:solidFill>
                <a:latin typeface="Meiryo UI"/>
              </a:rPr>
              <a:t>1</a:t>
            </a:r>
            <a:r>
              <a:rPr lang="ja-JP" altLang="en-US" sz="900" b="0">
                <a:solidFill>
                  <a:srgbClr val="808080"/>
                </a:solidFill>
                <a:latin typeface="Meiryo UI"/>
              </a:rPr>
              <a:t>６</a:t>
            </a:r>
            <a:r>
              <a:rPr sz="900" b="0" dirty="0">
                <a:solidFill>
                  <a:srgbClr val="808080"/>
                </a:solidFill>
                <a:latin typeface="Meiryo UI"/>
              </a:rPr>
              <a:t>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320040"/>
            <a:ext cx="73152" cy="411480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D2D8A"/>
                </a:solidFill>
                <a:latin typeface="Meiryo UI"/>
              </a:rPr>
              <a:t>15. 今後の課題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65760" y="841248"/>
            <a:ext cx="8412480" cy="0"/>
          </a:xfrm>
          <a:prstGeom prst="line">
            <a:avLst/>
          </a:prstGeom>
          <a:ln w="19050">
            <a:solidFill>
              <a:srgbClr val="00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48640" y="1005840"/>
            <a:ext cx="8046720" cy="713232"/>
          </a:xfrm>
          <a:prstGeom prst="roundRect">
            <a:avLst>
              <a:gd name="adj" fmla="val 10000"/>
            </a:avLst>
          </a:prstGeom>
          <a:solidFill>
            <a:srgbClr val="DAEDEF"/>
          </a:solidFill>
          <a:ln w="508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07899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D2D8A"/>
                </a:solidFill>
                <a:latin typeface="Meiryo UI"/>
              </a:rPr>
              <a:t>Q2の解決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7680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課題: 「カウント」「集計」のような全行走査が必要な質問への対応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508760"/>
            <a:ext cx="7680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9999"/>
                </a:solidFill>
                <a:latin typeface="Meiryo UI"/>
              </a:rPr>
              <a:t>対策案: ハイブリッド検索（セマンティック + BM25）/ メタデータフィルタリング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8046720" cy="713232"/>
          </a:xfrm>
          <a:prstGeom prst="roundRect">
            <a:avLst>
              <a:gd name="adj" fmla="val 10000"/>
            </a:avLst>
          </a:prstGeom>
          <a:solidFill>
            <a:srgbClr val="DAEDEF"/>
          </a:solidFill>
          <a:ln w="508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85623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D2D8A"/>
                </a:solidFill>
                <a:latin typeface="Meiryo UI"/>
              </a:rPr>
              <a:t>検索バイアスの緩和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7680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課題: 頻出キーワードによる説明文偏重を解消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7680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9999"/>
                </a:solidFill>
                <a:latin typeface="Meiryo UI"/>
              </a:rPr>
              <a:t>対策案: Multi-Query Retrieval / リランカーの導入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560320"/>
            <a:ext cx="8046720" cy="713232"/>
          </a:xfrm>
          <a:prstGeom prst="roundRect">
            <a:avLst>
              <a:gd name="adj" fmla="val 10000"/>
            </a:avLst>
          </a:prstGeom>
          <a:solidFill>
            <a:srgbClr val="DAEDEF"/>
          </a:solidFill>
          <a:ln w="508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6334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D2D8A"/>
                </a:solidFill>
                <a:latin typeface="Meiryo UI"/>
              </a:rPr>
              <a:t>評価の自動化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880360"/>
            <a:ext cx="7680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課題: 現在は人力での採点。再現性をさらに高めるには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063240"/>
            <a:ext cx="7680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9999"/>
                </a:solidFill>
                <a:latin typeface="Meiryo UI"/>
              </a:rPr>
              <a:t>対策案: LLM-as-Judge による自動採点（評価専用エージェント）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337560"/>
            <a:ext cx="8046720" cy="713232"/>
          </a:xfrm>
          <a:prstGeom prst="roundRect">
            <a:avLst>
              <a:gd name="adj" fmla="val 10000"/>
            </a:avLst>
          </a:prstGeom>
          <a:solidFill>
            <a:srgbClr val="DAEDEF"/>
          </a:solidFill>
          <a:ln w="508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341071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D2D8A"/>
                </a:solidFill>
                <a:latin typeface="Meiryo UI"/>
              </a:rPr>
              <a:t>質問セットの拡充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657600"/>
            <a:ext cx="7680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課題: n=10では統計的有意性の議論ができない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40480"/>
            <a:ext cx="7680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9999"/>
                </a:solidFill>
                <a:latin typeface="Meiryo UI"/>
              </a:rPr>
              <a:t>対策案: 質問の複雑度別に各20問程度に拡張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14800"/>
            <a:ext cx="8046720" cy="713232"/>
          </a:xfrm>
          <a:prstGeom prst="roundRect">
            <a:avLst>
              <a:gd name="adj" fmla="val 10000"/>
            </a:avLst>
          </a:prstGeom>
          <a:solidFill>
            <a:srgbClr val="DAEDEF"/>
          </a:solidFill>
          <a:ln w="508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418795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D2D8A"/>
                </a:solidFill>
                <a:latin typeface="Meiryo UI"/>
              </a:rPr>
              <a:t>ハイブリッドアプローチ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434840"/>
            <a:ext cx="7680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Meiryo UI"/>
              </a:rPr>
              <a:t>課題: 「RAG + 全文書投入」の組み合わせ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617720"/>
            <a:ext cx="7680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009999"/>
                </a:solidFill>
                <a:latin typeface="Meiryo UI"/>
              </a:rPr>
              <a:t>対策案: 検索結果に加えて文書の目次・見出しも提示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89204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Meiryo UI"/>
              </a:rPr>
              <a:t>RAG vs NotebookLM 比較実験レポート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89204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Meiryo UI"/>
              </a:rPr>
              <a:t>16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406</TotalTime>
  <Words>1808</Words>
  <Application>Microsoft Macintosh PowerPoint</Application>
  <PresentationFormat>画面に合わせる (16:9)</PresentationFormat>
  <Paragraphs>443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1" baseType="lpstr">
      <vt:lpstr>Meiryo UI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NAKAMURA Shogo</cp:lastModifiedBy>
  <cp:revision>2</cp:revision>
  <dcterms:created xsi:type="dcterms:W3CDTF">2013-01-27T09:14:16Z</dcterms:created>
  <dcterms:modified xsi:type="dcterms:W3CDTF">2026-04-10T00:43:40Z</dcterms:modified>
  <cp:category/>
</cp:coreProperties>
</file>